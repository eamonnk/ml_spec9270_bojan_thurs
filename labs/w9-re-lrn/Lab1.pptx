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sldIdLst>
    <p:sldId id="256" r:id="rId2"/>
    <p:sldId id="330" r:id="rId3"/>
    <p:sldId id="257" r:id="rId4"/>
    <p:sldId id="261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06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1" r:id="rId30"/>
    <p:sldId id="332" r:id="rId31"/>
    <p:sldId id="333" r:id="rId32"/>
    <p:sldId id="334" r:id="rId33"/>
    <p:sldId id="335" r:id="rId34"/>
    <p:sldId id="258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696F"/>
    <a:srgbClr val="063A59"/>
    <a:srgbClr val="1BA1AE"/>
    <a:srgbClr val="EC607C"/>
    <a:srgbClr val="EC600C"/>
    <a:srgbClr val="E45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25"/>
    <p:restoredTop sz="95714"/>
  </p:normalViewPr>
  <p:slideViewPr>
    <p:cSldViewPr snapToGrid="0" snapToObjects="1" showGuides="1">
      <p:cViewPr varScale="1">
        <p:scale>
          <a:sx n="118" d="100"/>
          <a:sy n="118" d="100"/>
        </p:scale>
        <p:origin x="208" y="9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6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2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5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7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8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6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3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2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13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7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34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1F32C-0ABB-4145-A679-00AEBF00F52C}" type="datetimeFigureOut">
              <a:rPr lang="en-US" smtClean="0"/>
              <a:pPr/>
              <a:t>3/6/24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7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ojan.bozic@tudublin.ie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uggingface.co/learn/deep-rl-cours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farama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ymnasium.farama.org/environments/box2d/lunar_lander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stable-baselines3.readthedocs.io/en/master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ble-baselines3.readthedocs.io/en/master/guide/examples.html#basic-usage-training-saving-loading" TargetMode="External"/><Relationship Id="rId2" Type="http://schemas.openxmlformats.org/officeDocument/2006/relationships/hyperlink" Target="https://stable-baselines3.readthedocs.io/en/master/common/monito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huggingface-projects/Deep-Reinforcement-Learning-Leaderboard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ettings/tokens" TargetMode="External"/><Relationship Id="rId2" Type="http://schemas.openxmlformats.org/officeDocument/2006/relationships/hyperlink" Target="https://huggingface.co/join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bojanb/rl-test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5E7B3-A538-7E4E-A1F0-7503DE9ED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1BA1AE"/>
                </a:solidFill>
                <a:latin typeface="Prophet" panose="02010503020000020004" pitchFamily="2" charset="0"/>
                <a:ea typeface="Prophet" panose="02010503020000020004" pitchFamily="2" charset="0"/>
              </a:rPr>
              <a:t>Reinforcement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8999D-6285-2643-888E-7F7B11D97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" y="2571750"/>
            <a:ext cx="6754092" cy="131445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Visuelt" pitchFamily="2" charset="77"/>
              </a:rPr>
              <a:t>Lab 1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2B0B45-13F5-3534-51E4-1A4961B50A85}"/>
              </a:ext>
            </a:extLst>
          </p:cNvPr>
          <p:cNvSpPr txBox="1">
            <a:spLocks/>
          </p:cNvSpPr>
          <p:nvPr/>
        </p:nvSpPr>
        <p:spPr>
          <a:xfrm>
            <a:off x="685800" y="3078480"/>
            <a:ext cx="6400800" cy="135958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  <a:latin typeface="Visuelt" pitchFamily="2" charset="77"/>
              </a:rPr>
              <a:t>Dr Bojan </a:t>
            </a:r>
            <a:r>
              <a:rPr lang="en-US" sz="2000" dirty="0" err="1">
                <a:solidFill>
                  <a:schemeClr val="bg1"/>
                </a:solidFill>
                <a:latin typeface="Visuelt" pitchFamily="2" charset="77"/>
              </a:rPr>
              <a:t>Božić</a:t>
            </a:r>
            <a:endParaRPr lang="en-US" sz="2000" dirty="0">
              <a:solidFill>
                <a:schemeClr val="bg1"/>
              </a:solidFill>
              <a:latin typeface="Visuelt" pitchFamily="2" charset="77"/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  <a:latin typeface="Visuelt" pitchFamily="2" charset="77"/>
              </a:rPr>
              <a:t>School of Computer Science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Visuelt" pitchFamily="2" charset="77"/>
              </a:rPr>
              <a:t>TU Dublin, </a:t>
            </a:r>
            <a:r>
              <a:rPr lang="en-US" sz="2000" dirty="0" err="1">
                <a:solidFill>
                  <a:schemeClr val="bg1"/>
                </a:solidFill>
                <a:latin typeface="Visuelt" pitchFamily="2" charset="77"/>
              </a:rPr>
              <a:t>Grangegorman</a:t>
            </a:r>
            <a:endParaRPr lang="en-US" sz="2000" dirty="0">
              <a:solidFill>
                <a:schemeClr val="bg1"/>
              </a:solidFill>
              <a:latin typeface="Visuelt" pitchFamily="2" charset="77"/>
            </a:endParaRPr>
          </a:p>
          <a:p>
            <a:pPr algn="l"/>
            <a:endParaRPr lang="en-US" sz="2000" dirty="0">
              <a:solidFill>
                <a:schemeClr val="bg1"/>
              </a:solidFill>
              <a:latin typeface="Visuelt" pitchFamily="2" charset="77"/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  <a:latin typeface="Visuelt" pitchFamily="2" charset="77"/>
                <a:hlinkClick r:id="rId3"/>
              </a:rPr>
              <a:t>bojan.bozic@tudublin.ie</a:t>
            </a:r>
            <a:r>
              <a:rPr lang="en-US" sz="2000" dirty="0">
                <a:solidFill>
                  <a:schemeClr val="bg1"/>
                </a:solidFill>
                <a:latin typeface="Visuelt" pitchFamily="2" charset="77"/>
              </a:rPr>
              <a:t> 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Visuelt" pitchFamily="2" charset="77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A4C8978-9640-D671-810A-69F6D6503435}"/>
              </a:ext>
            </a:extLst>
          </p:cNvPr>
          <p:cNvSpPr txBox="1">
            <a:spLocks/>
          </p:cNvSpPr>
          <p:nvPr/>
        </p:nvSpPr>
        <p:spPr>
          <a:xfrm>
            <a:off x="685800" y="4761687"/>
            <a:ext cx="6400800" cy="293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Slides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adapted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from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  <a:hlinkClick r:id="rId4"/>
              </a:rPr>
              <a:t>https://huggingface.co/learn/deep-rl-course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 and Fundamentals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of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Machine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Learning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for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Predictive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Data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Analytics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.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Kelleher,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Mac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 err="1">
                <a:solidFill>
                  <a:schemeClr val="bg1"/>
                </a:solidFill>
                <a:effectLst/>
                <a:latin typeface="Helvetica" pitchFamily="2" charset="0"/>
              </a:rPr>
              <a:t>Namee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and</a:t>
            </a:r>
            <a:r>
              <a:rPr lang="en-IE" sz="1200" b="1" dirty="0">
                <a:solidFill>
                  <a:schemeClr val="bg1"/>
                </a:solidFill>
                <a:effectLst/>
                <a:latin typeface="Al Bayan" pitchFamily="2" charset="-78"/>
                <a:cs typeface="Al Bayan" pitchFamily="2" charset="-78"/>
              </a:rPr>
              <a:t> </a:t>
            </a:r>
            <a:r>
              <a:rPr lang="en-IE" sz="1200" b="1" dirty="0">
                <a:solidFill>
                  <a:schemeClr val="bg1"/>
                </a:solidFill>
                <a:effectLst/>
                <a:latin typeface="Helvetica" pitchFamily="2" charset="0"/>
              </a:rPr>
              <a:t>D’Arcy </a:t>
            </a:r>
            <a:endParaRPr lang="en-IE" sz="1200" dirty="0">
              <a:solidFill>
                <a:schemeClr val="bg1"/>
              </a:solidFill>
              <a:effectLst/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A5E1-BF07-1E54-51F4-914616D2D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Lab 1 - Goal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7C272-0FC0-E407-259D-45F1D372BFB3}"/>
              </a:ext>
            </a:extLst>
          </p:cNvPr>
          <p:cNvSpPr txBox="1"/>
          <p:nvPr/>
        </p:nvSpPr>
        <p:spPr>
          <a:xfrm>
            <a:off x="457200" y="1188304"/>
            <a:ext cx="80305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Now that you’ve studied the basics of Reinforcement Learning, you’re ready to train your first agent: A Lunar Lander agent that will learn to land correctly on the Moon 🌕</a:t>
            </a:r>
            <a:endParaRPr lang="en-IE" dirty="0"/>
          </a:p>
        </p:txBody>
      </p:sp>
      <p:pic>
        <p:nvPicPr>
          <p:cNvPr id="19458" name="Picture 2" descr="LunarLander">
            <a:extLst>
              <a:ext uri="{FF2B5EF4-FFF2-40B4-BE49-F238E27FC236}">
                <a16:creationId xmlns:a16="http://schemas.microsoft.com/office/drawing/2014/main" id="{4ECA8898-44C1-EFFC-CD77-E064B7F3F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256" y="1909841"/>
            <a:ext cx="4541520" cy="302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7DDBCF-4874-A2BE-0571-1EDD6C42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0"/>
            <a:ext cx="8229600" cy="857250"/>
          </a:xfrm>
        </p:spPr>
        <p:txBody>
          <a:bodyPr/>
          <a:lstStyle/>
          <a:p>
            <a:r>
              <a:rPr lang="en-US" dirty="0"/>
              <a:t>First Step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C863F-F96D-F031-B9E4-4055F59DD6B8}"/>
              </a:ext>
            </a:extLst>
          </p:cNvPr>
          <p:cNvSpPr txBox="1"/>
          <p:nvPr/>
        </p:nvSpPr>
        <p:spPr>
          <a:xfrm>
            <a:off x="602673" y="905841"/>
            <a:ext cx="754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F0502020204030204" pitchFamily="34" charset="0"/>
              </a:rPr>
              <a:t>Go to 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F0502020204030204" pitchFamily="34" charset="0"/>
                <a:hlinkClick r:id="rId3"/>
              </a:rPr>
              <a:t>https://colab.research.google.com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F0502020204030204" pitchFamily="34" charset="0"/>
              </a:rPr>
              <a:t> and create a new notebook:</a:t>
            </a:r>
            <a:endParaRPr lang="en-I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9992F9-EFEE-FBE8-17F6-E6219B933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101" y="1419045"/>
            <a:ext cx="5378201" cy="3684640"/>
          </a:xfrm>
          <a:prstGeom prst="rect">
            <a:avLst/>
          </a:prstGeom>
        </p:spPr>
      </p:pic>
      <p:sp>
        <p:nvSpPr>
          <p:cNvPr id="8" name="Łącznik prosty ze strzałką 7">
            <a:extLst>
              <a:ext uri="{FF2B5EF4-FFF2-40B4-BE49-F238E27FC236}">
                <a16:creationId xmlns:a16="http://schemas.microsoft.com/office/drawing/2014/main" id="{56FCB21F-1D8B-4862-95AB-C0C6D189D560}"/>
              </a:ext>
            </a:extLst>
          </p:cNvPr>
          <p:cNvSpPr/>
          <p:nvPr/>
        </p:nvSpPr>
        <p:spPr>
          <a:xfrm rot="7694398">
            <a:off x="2926288" y="4208400"/>
            <a:ext cx="548640" cy="0"/>
          </a:xfrm>
          <a:prstGeom prst="straightConnector1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11C2-CF15-703E-C040-EE82B672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the GPU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94941-80A2-4FF5-865F-9CFC3046297D}"/>
              </a:ext>
            </a:extLst>
          </p:cNvPr>
          <p:cNvSpPr txBox="1"/>
          <p:nvPr/>
        </p:nvSpPr>
        <p:spPr>
          <a:xfrm>
            <a:off x="457200" y="1063229"/>
            <a:ext cx="7352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To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accelerate the agent’s training, we’ll use a GPU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 To do that, go to Runtime &gt; Change Runtime type</a:t>
            </a:r>
          </a:p>
        </p:txBody>
      </p:sp>
      <p:pic>
        <p:nvPicPr>
          <p:cNvPr id="2052" name="Picture 4" descr="GPU Step 1">
            <a:extLst>
              <a:ext uri="{FF2B5EF4-FFF2-40B4-BE49-F238E27FC236}">
                <a16:creationId xmlns:a16="http://schemas.microsoft.com/office/drawing/2014/main" id="{8EB38693-A5F1-2665-B2CD-FD704995F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503" y="1521467"/>
            <a:ext cx="4000923" cy="322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PU Step 2">
            <a:extLst>
              <a:ext uri="{FF2B5EF4-FFF2-40B4-BE49-F238E27FC236}">
                <a16:creationId xmlns:a16="http://schemas.microsoft.com/office/drawing/2014/main" id="{F903DA7A-8779-72FA-7B6A-FFD2FF1EA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95" y="2418736"/>
            <a:ext cx="3254617" cy="232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86465E7-F4EE-57AE-DACC-187830CB4F84}"/>
              </a:ext>
            </a:extLst>
          </p:cNvPr>
          <p:cNvSpPr/>
          <p:nvPr/>
        </p:nvSpPr>
        <p:spPr>
          <a:xfrm>
            <a:off x="7799264" y="1521467"/>
            <a:ext cx="4491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9F873E-6F4A-C0A1-C453-E8EE46F52AFC}"/>
              </a:ext>
            </a:extLst>
          </p:cNvPr>
          <p:cNvSpPr/>
          <p:nvPr/>
        </p:nvSpPr>
        <p:spPr>
          <a:xfrm>
            <a:off x="2790823" y="2460861"/>
            <a:ext cx="5725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07974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3181-9348-1075-B3AE-93FF3F7D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 dependencies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D80911-11B3-2E7D-D330-F3624035C27E}"/>
              </a:ext>
            </a:extLst>
          </p:cNvPr>
          <p:cNvSpPr txBox="1"/>
          <p:nvPr/>
        </p:nvSpPr>
        <p:spPr>
          <a:xfrm>
            <a:off x="457199" y="1279088"/>
            <a:ext cx="83533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The first step is to install the dependencies, we’ll install multiple ones.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gymnasium[box2d]: Contains the LunarLander-v2 environment 🌛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stable-baselines3[extra]: The deep reinforcement learning library.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huggingface_sb3: Additional code for Stable-baselines3 to load and upload models from the Hugging Face 🤗 Hub.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D7E469D-D6D1-933E-E6A9-3494B3006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01" y="3045336"/>
            <a:ext cx="3200400" cy="4699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2A877D1-08FF-4B67-97ED-3BF76ECA4855}"/>
              </a:ext>
            </a:extLst>
          </p:cNvPr>
          <p:cNvSpPr txBox="1"/>
          <p:nvPr/>
        </p:nvSpPr>
        <p:spPr>
          <a:xfrm>
            <a:off x="2006301" y="400140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4B5563"/>
                </a:solidFill>
                <a:latin typeface="Source Sans Pro" panose="020B0503030403020204" pitchFamily="34" charset="0"/>
              </a:rPr>
              <a:t>You can use a </a:t>
            </a:r>
            <a:r>
              <a:rPr lang="en-GB" dirty="0" err="1">
                <a:solidFill>
                  <a:srgbClr val="4B5563"/>
                </a:solidFill>
                <a:latin typeface="Source Sans Pro" panose="020B0503030403020204" pitchFamily="34" charset="0"/>
              </a:rPr>
              <a:t>huggingface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 script to install all these dependencies.</a:t>
            </a:r>
            <a:endParaRPr lang="en-IE" dirty="0"/>
          </a:p>
        </p:txBody>
      </p:sp>
      <p:sp>
        <p:nvSpPr>
          <p:cNvPr id="21" name="Łącznik prosty ze strzałką 7">
            <a:extLst>
              <a:ext uri="{FF2B5EF4-FFF2-40B4-BE49-F238E27FC236}">
                <a16:creationId xmlns:a16="http://schemas.microsoft.com/office/drawing/2014/main" id="{CE7C78FE-FF54-ED53-C5C4-62A85091A222}"/>
              </a:ext>
            </a:extLst>
          </p:cNvPr>
          <p:cNvSpPr/>
          <p:nvPr/>
        </p:nvSpPr>
        <p:spPr>
          <a:xfrm rot="7694398">
            <a:off x="1233486" y="3243626"/>
            <a:ext cx="225127" cy="1298397"/>
          </a:xfrm>
          <a:prstGeom prst="straightConnector1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2CE89C1-0D6A-14CD-79B4-07F9CC23C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713" y="3611942"/>
            <a:ext cx="7772400" cy="279423"/>
          </a:xfrm>
          <a:prstGeom prst="rect">
            <a:avLst/>
          </a:prstGeom>
        </p:spPr>
      </p:pic>
      <p:sp>
        <p:nvSpPr>
          <p:cNvPr id="23" name="Łącznik prosty ze strzałką 7">
            <a:extLst>
              <a:ext uri="{FF2B5EF4-FFF2-40B4-BE49-F238E27FC236}">
                <a16:creationId xmlns:a16="http://schemas.microsoft.com/office/drawing/2014/main" id="{EC841B16-DEA1-E7BD-C384-B30D4AD9EFAA}"/>
              </a:ext>
            </a:extLst>
          </p:cNvPr>
          <p:cNvSpPr/>
          <p:nvPr/>
        </p:nvSpPr>
        <p:spPr>
          <a:xfrm rot="7694398" flipH="1" flipV="1">
            <a:off x="3970916" y="3775307"/>
            <a:ext cx="524434" cy="449602"/>
          </a:xfrm>
          <a:prstGeom prst="straightConnector1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25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A2D2-50EB-0D7E-C517-3182C34D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virtual screen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8CA4A0-E6FD-7068-07E6-A75D618A6B92}"/>
              </a:ext>
            </a:extLst>
          </p:cNvPr>
          <p:cNvSpPr txBox="1"/>
          <p:nvPr/>
        </p:nvSpPr>
        <p:spPr>
          <a:xfrm>
            <a:off x="688489" y="1063229"/>
            <a:ext cx="7573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During the lab, we’ll need to generate a replay video. To do so, with 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colab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, </a:t>
            </a:r>
            <a:r>
              <a:rPr lang="en-GB" b="1" i="0" u="none" strike="noStrike" dirty="0">
                <a:effectLst/>
                <a:latin typeface="Source Sans Pro" panose="020B0503030403020204" pitchFamily="34" charset="0"/>
              </a:rPr>
              <a:t>we need to have a virtual screen to be able to render the environment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(and thus record the frames).</a:t>
            </a:r>
            <a:endParaRPr lang="en-IE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AB3908D-D835-2850-B0DB-A11434BF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88" y="2113559"/>
            <a:ext cx="39624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4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9D2DD-B27D-3508-1F23-2F42D613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Virtual Screen</a:t>
            </a:r>
          </a:p>
        </p:txBody>
      </p:sp>
      <p:sp>
        <p:nvSpPr>
          <p:cNvPr id="4097" name="TextBox 4096">
            <a:extLst>
              <a:ext uri="{FF2B5EF4-FFF2-40B4-BE49-F238E27FC236}">
                <a16:creationId xmlns:a16="http://schemas.microsoft.com/office/drawing/2014/main" id="{9DB2D459-CF54-EFCE-D0D0-B0CB95649B4D}"/>
              </a:ext>
            </a:extLst>
          </p:cNvPr>
          <p:cNvSpPr txBox="1"/>
          <p:nvPr/>
        </p:nvSpPr>
        <p:spPr>
          <a:xfrm>
            <a:off x="306592" y="1063229"/>
            <a:ext cx="8460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To make sure the new installed libraries are used, </a:t>
            </a:r>
            <a:r>
              <a:rPr lang="en-GB" b="1" i="0" u="none" strike="noStrike" dirty="0">
                <a:effectLst/>
                <a:latin typeface="Source Sans Pro" panose="020B0503030403020204" pitchFamily="34" charset="0"/>
              </a:rPr>
              <a:t>sometimes it’s required to restart the notebook runtime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 The next cell will force the </a:t>
            </a:r>
            <a:r>
              <a:rPr lang="en-GB" b="1" i="0" u="none" strike="noStrike" dirty="0">
                <a:effectLst/>
                <a:latin typeface="Source Sans Pro" panose="020B0503030403020204" pitchFamily="34" charset="0"/>
              </a:rPr>
              <a:t>runtime to crash, so you’ll need to connect again and run the code starting from here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 Thanks to this trick, </a:t>
            </a:r>
            <a:r>
              <a:rPr lang="en-GB" b="1" i="0" u="none" strike="noStrike" dirty="0">
                <a:effectLst/>
                <a:latin typeface="Source Sans Pro" panose="020B0503030403020204" pitchFamily="34" charset="0"/>
              </a:rPr>
              <a:t>we will be able to run our virtual screen.</a:t>
            </a:r>
            <a:endParaRPr lang="en-IE" dirty="0"/>
          </a:p>
        </p:txBody>
      </p:sp>
      <p:pic>
        <p:nvPicPr>
          <p:cNvPr id="4099" name="Picture 4098">
            <a:extLst>
              <a:ext uri="{FF2B5EF4-FFF2-40B4-BE49-F238E27FC236}">
                <a16:creationId xmlns:a16="http://schemas.microsoft.com/office/drawing/2014/main" id="{0293EB95-EDAC-C6FF-B5B4-6C0D41AB0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92" y="2409534"/>
            <a:ext cx="3454400" cy="1092200"/>
          </a:xfrm>
          <a:prstGeom prst="rect">
            <a:avLst/>
          </a:prstGeom>
        </p:spPr>
      </p:pic>
      <p:pic>
        <p:nvPicPr>
          <p:cNvPr id="4101" name="Picture 4100">
            <a:extLst>
              <a:ext uri="{FF2B5EF4-FFF2-40B4-BE49-F238E27FC236}">
                <a16:creationId xmlns:a16="http://schemas.microsoft.com/office/drawing/2014/main" id="{31C4BC71-A862-BD6E-4C05-E582C1B22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287" y="3684076"/>
            <a:ext cx="5381136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6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0998A-6249-15C8-07C0-32DF601C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5D724-D108-F805-D5C8-6F298629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05979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/>
              <a:t>Import the packages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2271ACBA-3342-AD36-06CB-42DF3B342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1440370"/>
            <a:ext cx="76200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26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5592C-EAEB-5985-A239-B4D0051A4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76C7A-FCFF-4D14-2215-2CFD6811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600" b="1" i="0" u="none" strike="noStrike" dirty="0">
                <a:effectLst/>
              </a:rPr>
              <a:t>Understand Gymnasium and how it works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48CABC-8157-D649-96CA-4300685A2FFC}"/>
              </a:ext>
            </a:extLst>
          </p:cNvPr>
          <p:cNvSpPr txBox="1"/>
          <p:nvPr/>
        </p:nvSpPr>
        <p:spPr>
          <a:xfrm>
            <a:off x="457200" y="1093724"/>
            <a:ext cx="80628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🏋 The library containing our environment is called Gymnasium.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You’ll use Gymnasium a lot in Deep Reinforcement Learning.</a:t>
            </a:r>
          </a:p>
          <a:p>
            <a:pPr algn="l"/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Gymnasium is the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new version of Gym library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</a:t>
            </a:r>
            <a:r>
              <a:rPr lang="en-GB" b="0" i="0" u="sng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  <a:hlinkClick r:id="rId2"/>
              </a:rPr>
              <a:t>maintained by the Farama Foundation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algn="l"/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The Gymnasium library provides two things: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An interface that allows you to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create RL environments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collection of environments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(gym-control, 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atari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, box2D…).</a:t>
            </a:r>
          </a:p>
        </p:txBody>
      </p:sp>
    </p:spTree>
    <p:extLst>
      <p:ext uri="{BB962C8B-B14F-4D97-AF65-F5344CB8AC3E}">
        <p14:creationId xmlns:p14="http://schemas.microsoft.com/office/powerpoint/2010/main" val="2679984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5DDC-0AF5-A018-291E-6232C981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Loop Recall</a:t>
            </a:r>
          </a:p>
        </p:txBody>
      </p:sp>
      <p:pic>
        <p:nvPicPr>
          <p:cNvPr id="7172" name="Picture 4" descr="The RL process">
            <a:extLst>
              <a:ext uri="{FF2B5EF4-FFF2-40B4-BE49-F238E27FC236}">
                <a16:creationId xmlns:a16="http://schemas.microsoft.com/office/drawing/2014/main" id="{8D0C83F8-4D72-F921-CE82-907EC1841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5761"/>
            <a:ext cx="4348046" cy="244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76ACB3-BBA6-626C-2C9B-C5EF4504BA2C}"/>
              </a:ext>
            </a:extLst>
          </p:cNvPr>
          <p:cNvSpPr txBox="1"/>
          <p:nvPr/>
        </p:nvSpPr>
        <p:spPr>
          <a:xfrm>
            <a:off x="4218954" y="1226738"/>
            <a:ext cx="457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At each step:</a:t>
            </a:r>
          </a:p>
          <a:p>
            <a:pPr algn="l"/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Our Agent receives a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state (S</a:t>
            </a:r>
            <a:r>
              <a:rPr lang="en-GB" b="1" i="0" u="none" strike="noStrike" baseline="-25000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0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)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from the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Environment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— we receive the first frame of our game (Environment).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Based on that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state (S</a:t>
            </a:r>
            <a:r>
              <a:rPr lang="en-GB" b="1" i="0" u="none" strike="noStrike" baseline="-25000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0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),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the Agent takes an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action (A</a:t>
            </a:r>
            <a:r>
              <a:rPr lang="en-GB" b="1" i="0" u="none" strike="noStrike" baseline="-25000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0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)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— our Agent will move to the right.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The environment transitions to a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new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state (S</a:t>
            </a:r>
            <a:r>
              <a:rPr lang="en-GB" b="1" baseline="-25000" dirty="0">
                <a:solidFill>
                  <a:srgbClr val="4B5563"/>
                </a:solidFill>
                <a:latin typeface="Source Sans Pro" panose="020B0503030403020204" pitchFamily="34" charset="0"/>
              </a:rPr>
              <a:t>1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)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— new frame.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The environment gives some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reward (R</a:t>
            </a:r>
            <a:r>
              <a:rPr lang="en-GB" b="1" baseline="-25000" dirty="0">
                <a:solidFill>
                  <a:srgbClr val="4B5563"/>
                </a:solidFill>
                <a:latin typeface="Source Sans Pro" panose="020B0503030403020204" pitchFamily="34" charset="0"/>
              </a:rPr>
              <a:t>1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)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to the Agent — we’re not dead </a:t>
            </a:r>
            <a:r>
              <a:rPr lang="en-GB" b="0" i="1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(Positive Reward +1)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0155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67C76-B5C5-CC90-46B1-74C64ED8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256B-A094-DE98-596F-2AA50D52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Rewards and Discounting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41A558-05DA-078C-8EBC-92961384337A}"/>
              </a:ext>
            </a:extLst>
          </p:cNvPr>
          <p:cNvSpPr txBox="1"/>
          <p:nvPr/>
        </p:nvSpPr>
        <p:spPr>
          <a:xfrm>
            <a:off x="457200" y="1149290"/>
            <a:ext cx="8229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To discount the rewards, we proceed like this:</a:t>
            </a:r>
          </a:p>
          <a:p>
            <a:pPr algn="l"/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We define a discount rate called gamma.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It must be between 0 and 1.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Most of the time between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0.95 and 0.99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The larger the gamma, the smaller the discount. This means our agent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cares more about the long-term reward.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On the other hand, the smaller the gamma, the bigger the discount. This means our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agent cares more about the short term reward (the nearest cheese).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marL="342900" indent="-342900" algn="l">
              <a:buFont typeface="+mj-lt"/>
              <a:buAutoNum type="arabicPeriod" startAt="2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Then, each reward will be discounted by gamma to the exponent of the time step. As the time step increases, the cat gets closer to us,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so the future reward is less and less likely to happen.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351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0BD7-45BD-EB23-FF0C-4AD419F6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Gymnasium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2C16B5-2438-6271-A59F-0CBF6153ECA3}"/>
              </a:ext>
            </a:extLst>
          </p:cNvPr>
          <p:cNvSpPr txBox="1"/>
          <p:nvPr/>
        </p:nvSpPr>
        <p:spPr>
          <a:xfrm>
            <a:off x="317349" y="1063229"/>
            <a:ext cx="81381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We create our environment using 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gymnasium.make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()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We reset the environment to its initial state with observation = 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env.reset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()</a:t>
            </a: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At each step:</a:t>
            </a:r>
          </a:p>
          <a:p>
            <a:pPr marL="342900" indent="-342900" algn="l">
              <a:buFont typeface="+mj-lt"/>
              <a:buAutoNum type="arabicPeriod" startAt="3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Get an action using our model (in our example we take a random action)</a:t>
            </a:r>
          </a:p>
          <a:p>
            <a:pPr marL="342900" indent="-342900" algn="l">
              <a:buFont typeface="+mj-lt"/>
              <a:buAutoNum type="arabicPeriod" startAt="3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Using 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env.step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(action), we perform this action in the environment and get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1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observation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The new state (s</a:t>
            </a:r>
            <a:r>
              <a:rPr lang="en-GB" b="0" i="0" u="none" strike="noStrike" baseline="-25000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t+1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1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reward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The reward we get after executing the 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1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terminated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Indicates if the episode terminated (agent reach the terminal state)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1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truncated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Introduced with this new version, it indicates a time limit or if an agent goes out of bounds of the environment for instance.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1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info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A dictionary that provides additional information (depends on the environment).</a:t>
            </a:r>
          </a:p>
        </p:txBody>
      </p:sp>
    </p:spTree>
    <p:extLst>
      <p:ext uri="{BB962C8B-B14F-4D97-AF65-F5344CB8AC3E}">
        <p14:creationId xmlns:p14="http://schemas.microsoft.com/office/powerpoint/2010/main" val="3601721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469A-661E-21C6-4675-106163FD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B561B1-1D1A-8536-943D-4A19E7313D76}"/>
              </a:ext>
            </a:extLst>
          </p:cNvPr>
          <p:cNvSpPr txBox="1"/>
          <p:nvPr/>
        </p:nvSpPr>
        <p:spPr>
          <a:xfrm>
            <a:off x="295835" y="1063229"/>
            <a:ext cx="25656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If the episode is terminated: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We reset the environment to its initial state with observation = 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env.reset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()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E66D41-BA4F-7200-C33A-8E83EF191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011" y="1160048"/>
            <a:ext cx="5738789" cy="353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47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458B-CF3C-21EA-9827-E683FE57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4" y="232874"/>
            <a:ext cx="8686800" cy="857250"/>
          </a:xfrm>
        </p:spPr>
        <p:txBody>
          <a:bodyPr>
            <a:normAutofit fontScale="90000"/>
          </a:bodyPr>
          <a:lstStyle/>
          <a:p>
            <a:pPr algn="l"/>
            <a:r>
              <a:rPr lang="en-GB" b="1" i="0" u="none" strike="noStrike" dirty="0">
                <a:effectLst/>
              </a:rPr>
              <a:t>Create the </a:t>
            </a:r>
            <a:r>
              <a:rPr lang="en-GB" b="1" i="0" u="none" strike="noStrike" dirty="0" err="1">
                <a:effectLst/>
              </a:rPr>
              <a:t>LunarLander</a:t>
            </a:r>
            <a:r>
              <a:rPr lang="en-GB" b="1" i="0" u="none" strike="noStrike" dirty="0">
                <a:effectLst/>
              </a:rPr>
              <a:t> environment 🌛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D8577B-FB36-FE3E-864D-076CCD3A68AB}"/>
              </a:ext>
            </a:extLst>
          </p:cNvPr>
          <p:cNvSpPr txBox="1"/>
          <p:nvPr/>
        </p:nvSpPr>
        <p:spPr>
          <a:xfrm>
            <a:off x="349624" y="1090124"/>
            <a:ext cx="8444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We’re going to train our agent, a </a:t>
            </a:r>
            <a:r>
              <a:rPr lang="en-GB" b="0" i="0" u="sng" dirty="0">
                <a:effectLst/>
                <a:latin typeface="Source Sans Pro" panose="020B0503030403020204" pitchFamily="34" charset="0"/>
                <a:hlinkClick r:id="rId2"/>
              </a:rPr>
              <a:t>Lunar Lander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, </a:t>
            </a:r>
            <a:r>
              <a:rPr lang="en-GB" b="1" i="0" u="none" strike="noStrike" dirty="0">
                <a:effectLst/>
                <a:latin typeface="Source Sans Pro" panose="020B0503030403020204" pitchFamily="34" charset="0"/>
              </a:rPr>
              <a:t>to land correctly on the moon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 To do that, the agent needs to learn </a:t>
            </a:r>
            <a:r>
              <a:rPr lang="en-GB" b="1" i="0" u="none" strike="noStrike" dirty="0">
                <a:effectLst/>
                <a:latin typeface="Source Sans Pro" panose="020B0503030403020204" pitchFamily="34" charset="0"/>
              </a:rPr>
              <a:t>to adapt its speed and position (horizontal, vertical, and angular) to land correctly.</a:t>
            </a:r>
            <a:endParaRPr lang="en-I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517D80-610B-9E1B-75F6-7CC17551A405}"/>
              </a:ext>
            </a:extLst>
          </p:cNvPr>
          <p:cNvSpPr txBox="1"/>
          <p:nvPr/>
        </p:nvSpPr>
        <p:spPr>
          <a:xfrm>
            <a:off x="349624" y="2202418"/>
            <a:ext cx="4582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Let’s see what the Environment looks like:</a:t>
            </a:r>
            <a:endParaRPr lang="en-IE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A7F368-CDCB-6CC6-6A86-0FE16FD27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24" y="2891106"/>
            <a:ext cx="7772400" cy="137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28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F6AF-9BAE-0656-5094-F7D03DF91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124ED-631B-ED94-0DB0-7DD8BBA42DFD}"/>
              </a:ext>
            </a:extLst>
          </p:cNvPr>
          <p:cNvSpPr txBox="1"/>
          <p:nvPr/>
        </p:nvSpPr>
        <p:spPr>
          <a:xfrm>
            <a:off x="548640" y="1063229"/>
            <a:ext cx="813815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We see with Observation Space Shape (8,) that the observation is a vector of size 8, where each value contains different information about the lander: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Horizontal pad coordinate (x)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Vertical pad coordinate (y)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Horizontal speed (x)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Vertical speed (y)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Angle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Angular speed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If the left leg contact point has touched the land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If the right leg contact point has touched </a:t>
            </a:r>
            <a:r>
              <a:rPr lang="en-GB" b="0" i="0" u="none" strike="noStrike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the land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451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D909-2142-5C09-A64C-A26F5E49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Space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E2F2FF-1575-7175-81FB-9D902628B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24" y="1201690"/>
            <a:ext cx="7772400" cy="8898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76A7BF-466E-65D0-2BDB-5E216A7A7685}"/>
              </a:ext>
            </a:extLst>
          </p:cNvPr>
          <p:cNvSpPr txBox="1"/>
          <p:nvPr/>
        </p:nvSpPr>
        <p:spPr>
          <a:xfrm>
            <a:off x="578223" y="2571750"/>
            <a:ext cx="77723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The action space (the set of possible actions the agent can take) is discrete with 4 actions available 🎮: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Action 0: Do nothing,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Action 1: Fire left orientation engine,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Action 2: Fire the main engine,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Action 3: Fire right orientation engine.</a:t>
            </a:r>
          </a:p>
        </p:txBody>
      </p:sp>
    </p:spTree>
    <p:extLst>
      <p:ext uri="{BB962C8B-B14F-4D97-AF65-F5344CB8AC3E}">
        <p14:creationId xmlns:p14="http://schemas.microsoft.com/office/powerpoint/2010/main" val="3462452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AF74-11DF-92BC-1BCF-92B41A2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i="0" u="none" strike="noStrike" dirty="0">
                <a:effectLst/>
              </a:rPr>
              <a:t>Reward Function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507DAE-9BEE-DE9B-C80C-DE86A01D3619}"/>
              </a:ext>
            </a:extLst>
          </p:cNvPr>
          <p:cNvSpPr txBox="1"/>
          <p:nvPr/>
        </p:nvSpPr>
        <p:spPr>
          <a:xfrm>
            <a:off x="328108" y="1063229"/>
            <a:ext cx="8229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After every step a reward is granted. The total reward of an episode is the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sum of the rewards for all the steps within that episode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algn="l"/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For each step, the reward: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Is increased/decreased the closer/further the lander is to the landing pad.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Is increased/decreased the slower/faster the lander is moving.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Is decreased the more the lander is tilted (angle not horizontal).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Is increased by 10 points for each leg that is in contact with the ground.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Is decreased by 0.03 points each frame a side engine is firing.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Is decreased by 0.3 points each frame the main engine is firing.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9F9EB4-C089-7B48-248E-27874D148049}"/>
              </a:ext>
            </a:extLst>
          </p:cNvPr>
          <p:cNvSpPr txBox="1"/>
          <p:nvPr/>
        </p:nvSpPr>
        <p:spPr>
          <a:xfrm>
            <a:off x="328108" y="4014191"/>
            <a:ext cx="80951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The episode receives an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additional reward of -100 or +100 points for crashing or landing safely respectively.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An episode is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considered a solution if it scores at least 200 points.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408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996D-ED65-D6B7-8E5A-0795013B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i="0" u="none" strike="noStrike" dirty="0">
                <a:effectLst/>
              </a:rPr>
              <a:t>Vectorized Environment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B8461-D4D9-6B13-48B7-4B43F609E618}"/>
              </a:ext>
            </a:extLst>
          </p:cNvPr>
          <p:cNvSpPr txBox="1"/>
          <p:nvPr/>
        </p:nvSpPr>
        <p:spPr>
          <a:xfrm>
            <a:off x="457200" y="1063229"/>
            <a:ext cx="80198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We create a vectorized environment (a method for stacking multiple independent environments into a single environment) of 16 environments, this way,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we’ll have more diverse experiences during the training.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07E2F-06E2-B2CD-C3A6-77B4E8C38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7100"/>
            <a:ext cx="57531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01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E719-5F32-574F-E52F-AA094743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Create the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F57AC4-C6D6-6D8F-BA6E-7D06DE787533}"/>
              </a:ext>
            </a:extLst>
          </p:cNvPr>
          <p:cNvSpPr txBox="1"/>
          <p:nvPr/>
        </p:nvSpPr>
        <p:spPr>
          <a:xfrm>
            <a:off x="457199" y="1279088"/>
            <a:ext cx="81058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We have studied our environment and we understood the problem: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being able to land the Lunar Lander to the Landing Pad correctly by controlling left, right and main orientation engine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 Now let’s build the algorithm we’re going to use to solve this Problem 🚀.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To do so, we’re going to use our first Deep RL library, </a:t>
            </a:r>
            <a:r>
              <a:rPr lang="en-GB" b="0" i="0" u="sng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  <a:hlinkClick r:id="rId2"/>
              </a:rPr>
              <a:t>Stable Baselines3 (SB3)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SB3 is a set of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reliable implementations of reinforcement learning algorithms in </a:t>
            </a:r>
            <a:r>
              <a:rPr lang="en-GB" b="1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PyTorch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C948B3-5CE9-3DF0-97E1-8E2C48C677A8}"/>
              </a:ext>
            </a:extLst>
          </p:cNvPr>
          <p:cNvSpPr txBox="1"/>
          <p:nvPr/>
        </p:nvSpPr>
        <p:spPr>
          <a:xfrm>
            <a:off x="747656" y="354124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sng" dirty="0">
                <a:effectLst/>
                <a:latin typeface="Source Sans Pro" panose="020B0503030403020204" pitchFamily="34" charset="0"/>
                <a:hlinkClick r:id="rId2"/>
              </a:rPr>
              <a:t>https://stable-baselines3.readthedocs.io/en/master/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82956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4671-1265-9988-94D4-231612A9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Proximal Policy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11EE5-B9D9-7CE6-0442-3BC715818B79}"/>
              </a:ext>
            </a:extLst>
          </p:cNvPr>
          <p:cNvSpPr txBox="1"/>
          <p:nvPr/>
        </p:nvSpPr>
        <p:spPr>
          <a:xfrm>
            <a:off x="457200" y="1063229"/>
            <a:ext cx="80090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PPO is a combination of:</a:t>
            </a:r>
          </a:p>
          <a:p>
            <a:pPr algn="l"/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1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Value-based reinforcement learning method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learning an action-value function that will tell us the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most valuable action to take given a state and action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1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Policy-based reinforcement learning method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learning a policy that will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give us a probability distribution over actions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8D4419-6DB0-517B-F96F-BC56D348A93A}"/>
              </a:ext>
            </a:extLst>
          </p:cNvPr>
          <p:cNvSpPr txBox="1"/>
          <p:nvPr/>
        </p:nvSpPr>
        <p:spPr>
          <a:xfrm>
            <a:off x="457199" y="3116623"/>
            <a:ext cx="7202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Stable-Baselines3 is easy to set up:</a:t>
            </a: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1️⃣ You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create your environment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(in our case it was done above)</a:t>
            </a: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2️⃣ You define the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model you want to use and instantiate this model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-&gt; 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 = PPO("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MlpPolicy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3️⃣ You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train the agent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with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model.learn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and define the number of training timesteps</a:t>
            </a:r>
          </a:p>
        </p:txBody>
      </p:sp>
    </p:spTree>
    <p:extLst>
      <p:ext uri="{BB962C8B-B14F-4D97-AF65-F5344CB8AC3E}">
        <p14:creationId xmlns:p14="http://schemas.microsoft.com/office/powerpoint/2010/main" val="3922336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8A37-8F0D-7FA5-8947-BDA8F7C0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Model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6654EF-42EC-6536-5A68-ED7782E68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4205"/>
            <a:ext cx="5448300" cy="2006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BDE47C-FEE8-3384-5EF3-F62070DEFD9E}"/>
              </a:ext>
            </a:extLst>
          </p:cNvPr>
          <p:cNvSpPr txBox="1"/>
          <p:nvPr/>
        </p:nvSpPr>
        <p:spPr>
          <a:xfrm>
            <a:off x="564777" y="377689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This isn’t 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gonna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 be a very smart agent, so just prepare yourself for several crash landings!</a:t>
            </a:r>
          </a:p>
        </p:txBody>
      </p:sp>
    </p:spTree>
    <p:extLst>
      <p:ext uri="{BB962C8B-B14F-4D97-AF65-F5344CB8AC3E}">
        <p14:creationId xmlns:p14="http://schemas.microsoft.com/office/powerpoint/2010/main" val="1993384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B53F2-6A51-063C-BB82-AC493553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Evaluate the 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C0DFB-C3DB-A3F6-AC13-1DE0135D4C9F}"/>
              </a:ext>
            </a:extLst>
          </p:cNvPr>
          <p:cNvSpPr txBox="1"/>
          <p:nvPr/>
        </p:nvSpPr>
        <p:spPr>
          <a:xfrm>
            <a:off x="597049" y="1006112"/>
            <a:ext cx="79499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Remember to wrap the environment in a </a:t>
            </a:r>
            <a:r>
              <a:rPr lang="en-GB" b="0" i="0" u="sng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  <a:hlinkClick r:id="rId2"/>
              </a:rPr>
              <a:t>Monitor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Now that our Lunar Lander agent is trained 🚀, we need to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check its performance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Stable-Baselines3 provides a method to do that: 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evaluate_policy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To fill that part you need to </a:t>
            </a:r>
            <a:r>
              <a:rPr lang="en-GB" b="0" i="0" u="sng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  <a:hlinkClick r:id="rId3"/>
              </a:rPr>
              <a:t>check the documentation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In the next step, we’ll see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how to automatically evaluate and share your agent to compete in a </a:t>
            </a:r>
            <a:r>
              <a:rPr lang="en-GB" b="1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leaderboard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, but for now let’s do it ourselves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B9514-A230-935B-1777-6CFB72F323A8}"/>
              </a:ext>
            </a:extLst>
          </p:cNvPr>
          <p:cNvSpPr txBox="1"/>
          <p:nvPr/>
        </p:nvSpPr>
        <p:spPr>
          <a:xfrm>
            <a:off x="457200" y="3053774"/>
            <a:ext cx="85146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💡 When you evaluate your agent, you should not use your training environment but create an evaluation environment.</a:t>
            </a:r>
            <a:endParaRPr lang="en-I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1E1445-105E-4691-E91D-0AD44885B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37570"/>
            <a:ext cx="7772400" cy="84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66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1BBBB-7E78-9970-A748-D195EF15B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600" i="0" u="none" strike="noStrike" dirty="0">
                <a:effectLst/>
              </a:rPr>
              <a:t>Publish our trained model on the Hub 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1D2C1-9D00-BF50-69E0-5AE380C72174}"/>
              </a:ext>
            </a:extLst>
          </p:cNvPr>
          <p:cNvSpPr txBox="1"/>
          <p:nvPr/>
        </p:nvSpPr>
        <p:spPr>
          <a:xfrm>
            <a:off x="677733" y="1063229"/>
            <a:ext cx="779929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By using 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package_to_hub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you evaluate, record a replay, generate a model card of your agent and push it to the hub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algn="l"/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This way: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You can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showcase our work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🔥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You can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visualize your agent playing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👀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You can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share with the community an agent that others can use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💾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You can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access a </a:t>
            </a:r>
            <a:r>
              <a:rPr lang="en-GB" b="1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leaderboard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 🏆 to see how well your agent is performing compared to your classmates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👉 </a:t>
            </a:r>
            <a:r>
              <a:rPr lang="en-GB" b="0" i="0" u="sng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  <a:hlinkClick r:id="rId2"/>
              </a:rPr>
              <a:t>https://huggingface.co/spaces/huggingface-projects/Deep-Reinforcement-Learning-Leaderboard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097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8CD0-61E3-73F2-454F-E100B3C5D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Share your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5E50A-1AA2-BE07-E58E-C13131839995}"/>
              </a:ext>
            </a:extLst>
          </p:cNvPr>
          <p:cNvSpPr txBox="1"/>
          <p:nvPr/>
        </p:nvSpPr>
        <p:spPr>
          <a:xfrm>
            <a:off x="580911" y="1207162"/>
            <a:ext cx="78745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To be able to share your model with the community there are three more steps to follow:</a:t>
            </a:r>
          </a:p>
          <a:p>
            <a:pPr algn="l"/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1️⃣ (If it’s not already done) create an account on Hugging Face ➡ </a:t>
            </a:r>
            <a:r>
              <a:rPr lang="en-GB" b="0" i="0" u="sng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  <a:hlinkClick r:id="rId2"/>
              </a:rPr>
              <a:t>https://huggingface.co/join</a:t>
            </a:r>
            <a:endParaRPr lang="en-GB" b="0" i="0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algn="l"/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2️⃣ Sign in and then, you need to store your authentication token from the Hugging Face website.</a:t>
            </a:r>
          </a:p>
          <a:p>
            <a:pPr algn="l"/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Create a new token (</a:t>
            </a:r>
            <a:r>
              <a:rPr lang="en-GB" b="0" i="0" u="sng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  <a:hlinkClick r:id="rId3"/>
              </a:rPr>
              <a:t>https://huggingface.co/settings/tokens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)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with write role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77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388B-1ABD-8B68-1966-CAA559D8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Login</a:t>
            </a:r>
          </a:p>
        </p:txBody>
      </p:sp>
      <p:pic>
        <p:nvPicPr>
          <p:cNvPr id="18436" name="Picture 4" descr="Create HF Token">
            <a:extLst>
              <a:ext uri="{FF2B5EF4-FFF2-40B4-BE49-F238E27FC236}">
                <a16:creationId xmlns:a16="http://schemas.microsoft.com/office/drawing/2014/main" id="{00D7FED2-A4D2-8F44-D099-86D03A470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02" y="971475"/>
            <a:ext cx="2560336" cy="189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776D47-A62F-AD90-F7F3-12E31315BDB2}"/>
              </a:ext>
            </a:extLst>
          </p:cNvPr>
          <p:cNvSpPr txBox="1"/>
          <p:nvPr/>
        </p:nvSpPr>
        <p:spPr>
          <a:xfrm>
            <a:off x="3680319" y="140881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Copy the token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Run the cell below and paste the token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4E32A6-A1F0-64A2-3A27-0330D18A8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319" y="2228313"/>
            <a:ext cx="4572000" cy="6868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AE760F-665D-030B-74D5-57DC7BEBCA50}"/>
              </a:ext>
            </a:extLst>
          </p:cNvPr>
          <p:cNvSpPr txBox="1"/>
          <p:nvPr/>
        </p:nvSpPr>
        <p:spPr>
          <a:xfrm>
            <a:off x="1619025" y="337881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3️⃣ We’re now ready to push our trained agent to the 🤗 Hub 🔥 using </a:t>
            </a:r>
            <a:r>
              <a:rPr lang="en-GB" dirty="0" err="1"/>
              <a:t>package_to_hub</a:t>
            </a:r>
            <a:r>
              <a:rPr lang="en-GB" dirty="0"/>
              <a:t>()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function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78907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E2A4-C643-7674-70BC-36BAC566D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package_to_hub</a:t>
            </a:r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DF1DD0-1503-C326-0C76-6278E58D006A}"/>
              </a:ext>
            </a:extLst>
          </p:cNvPr>
          <p:cNvSpPr txBox="1"/>
          <p:nvPr/>
        </p:nvSpPr>
        <p:spPr>
          <a:xfrm>
            <a:off x="457200" y="1052471"/>
            <a:ext cx="8229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Let’s fill the 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package_to_hub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function:</a:t>
            </a:r>
          </a:p>
          <a:p>
            <a:pPr algn="l"/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model: our trained model.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model_name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the name of the trained model that we defined in 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model_save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model_architecture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the model architecture we used, in our case PPO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env_id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the name of the environment, in our case LunarLander-v2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eval_env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the evaluation environment defined in 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eval_env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repo_id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the name of the Hugging Face Hub Repository that will be created/updated (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repo_id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 = {username}/{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repo_name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})</a:t>
            </a:r>
          </a:p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💡 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 good name is {username}/{</a:t>
            </a:r>
            <a:r>
              <a:rPr lang="en-GB" b="1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model_architecture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}-{</a:t>
            </a:r>
            <a:r>
              <a:rPr lang="en-GB" b="1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env_id</a:t>
            </a:r>
            <a:r>
              <a:rPr lang="en-GB" b="1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}</a:t>
            </a:r>
            <a:endParaRPr lang="en-GB" b="0" i="0" u="none" strike="noStrike" dirty="0">
              <a:solidFill>
                <a:srgbClr val="4B5563"/>
              </a:solidFill>
              <a:effectLst/>
              <a:latin typeface="Source Sans Pro" panose="020B0503030403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commit_message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: message of the commit</a:t>
            </a:r>
          </a:p>
        </p:txBody>
      </p:sp>
    </p:spTree>
    <p:extLst>
      <p:ext uri="{BB962C8B-B14F-4D97-AF65-F5344CB8AC3E}">
        <p14:creationId xmlns:p14="http://schemas.microsoft.com/office/powerpoint/2010/main" val="3774124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B7DD-9122-D458-3457-243EC363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DCCE96-DFAE-A985-5C13-56C259347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5979"/>
            <a:ext cx="8229600" cy="458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964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ECCC-AD82-F6DC-53B2-4DFFAB5D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Congrats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BA3B3-E31D-25AE-1CFA-FF1BA6ABE7B3}"/>
              </a:ext>
            </a:extLst>
          </p:cNvPr>
          <p:cNvSpPr txBox="1"/>
          <p:nvPr/>
        </p:nvSpPr>
        <p:spPr>
          <a:xfrm>
            <a:off x="247426" y="1195813"/>
            <a:ext cx="84393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Congrats 🥳 you’ve just trained and uploaded your first Deep Reinforcement Learning agent. The script above should have displayed a link to a model repository such as </a:t>
            </a:r>
            <a:r>
              <a:rPr lang="en-GB" b="0" i="0" u="sng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  <a:hlinkClick r:id="rId2"/>
              </a:rPr>
              <a:t>https://huggingface.co/bojanb/rl-test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 When you go to this link, you can: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See a video preview of your agent at the right.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Click “Files and versions” to see all the files in the repository.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Click “Use in stable-baselines3” to get a code snippet that shows how to load the model.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A model card (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README.md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 file) which gives a description of the model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Under the hood, the Hub uses git-based repositories (don’t worry if you don’t know what git is), which means you can update the model with new versions as you experiment and improve your agent.</a:t>
            </a:r>
          </a:p>
        </p:txBody>
      </p:sp>
    </p:spTree>
    <p:extLst>
      <p:ext uri="{BB962C8B-B14F-4D97-AF65-F5344CB8AC3E}">
        <p14:creationId xmlns:p14="http://schemas.microsoft.com/office/powerpoint/2010/main" val="2462469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73BF3-D082-119D-D1A3-56B8F901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Task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3D1001-459D-C861-D777-204D63FB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48291"/>
            <a:ext cx="7772400" cy="154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96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6471-B7B9-4025-2F56-88C2B29B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BE0A3-E273-836F-97E2-37A3EC649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433" y="1063229"/>
            <a:ext cx="5429134" cy="36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989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607FE-739E-3233-5C17-79BAE2DA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Task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988F9-A234-089A-5C32-997281E2882B}"/>
              </a:ext>
            </a:extLst>
          </p:cNvPr>
          <p:cNvSpPr txBox="1"/>
          <p:nvPr/>
        </p:nvSpPr>
        <p:spPr>
          <a:xfrm>
            <a:off x="457199" y="1063229"/>
            <a:ext cx="80413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Let’s train our agent for 1,000,000 timesteps, don’t forget to use GPU on </a:t>
            </a:r>
            <a:r>
              <a:rPr lang="en-GB" b="0" i="0" u="none" strike="noStrike" dirty="0" err="1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Colab</a:t>
            </a: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. It will take approximately ~20min, but you can use fewer timesteps if you just want to try it out.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B5563"/>
                </a:solidFill>
                <a:effectLst/>
                <a:latin typeface="Source Sans Pro" panose="020B0503030403020204" pitchFamily="34" charset="0"/>
              </a:rPr>
              <a:t>During the training, take a ☕ break you deserved it 🤗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B8264F-F739-135A-5BCF-E82CD241A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571750"/>
            <a:ext cx="75438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994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CADB-46A6-1255-75EE-4A69B6AA3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BA71C-F32D-61A1-7AE1-00F10EE7A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1447800"/>
            <a:ext cx="54737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30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ECBC-D116-C721-F040-FEC9203AE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Task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A9A47-1E57-861B-ED67-C755D0C6A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Evaluate your new agent</a:t>
            </a:r>
          </a:p>
          <a:p>
            <a:r>
              <a:rPr lang="en-IE" dirty="0"/>
              <a:t>Upload it to your repo</a:t>
            </a:r>
          </a:p>
          <a:p>
            <a:r>
              <a:rPr lang="en-IE" dirty="0"/>
              <a:t>Check if your lunar lander can land now!</a:t>
            </a:r>
          </a:p>
        </p:txBody>
      </p:sp>
    </p:spTree>
    <p:extLst>
      <p:ext uri="{BB962C8B-B14F-4D97-AF65-F5344CB8AC3E}">
        <p14:creationId xmlns:p14="http://schemas.microsoft.com/office/powerpoint/2010/main" val="1314078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BFC011-FF62-DF50-5801-FF39300BC1DE}"/>
              </a:ext>
            </a:extLst>
          </p:cNvPr>
          <p:cNvSpPr txBox="1"/>
          <p:nvPr/>
        </p:nvSpPr>
        <p:spPr>
          <a:xfrm>
            <a:off x="3454400" y="2279362"/>
            <a:ext cx="2263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 Dublin">
  <a:themeElements>
    <a:clrScheme name="TU Dublin Presentation0000oo">
      <a:dk1>
        <a:srgbClr val="004C6C"/>
      </a:dk1>
      <a:lt1>
        <a:srgbClr val="FFFFFF"/>
      </a:lt1>
      <a:dk2>
        <a:srgbClr val="452A64"/>
      </a:dk2>
      <a:lt2>
        <a:srgbClr val="EEECE1"/>
      </a:lt2>
      <a:accent1>
        <a:srgbClr val="004C6C"/>
      </a:accent1>
      <a:accent2>
        <a:srgbClr val="B60057"/>
      </a:accent2>
      <a:accent3>
        <a:srgbClr val="CFC600"/>
      </a:accent3>
      <a:accent4>
        <a:srgbClr val="837EBA"/>
      </a:accent4>
      <a:accent5>
        <a:srgbClr val="2856A3"/>
      </a:accent5>
      <a:accent6>
        <a:srgbClr val="F0823C"/>
      </a:accent6>
      <a:hlink>
        <a:srgbClr val="00A9B7"/>
      </a:hlink>
      <a:folHlink>
        <a:srgbClr val="CE122C"/>
      </a:folHlink>
    </a:clrScheme>
    <a:fontScheme name="TUDublin">
      <a:majorFont>
        <a:latin typeface="Prophet"/>
        <a:ea typeface=""/>
        <a:cs typeface=""/>
      </a:majorFont>
      <a:minorFont>
        <a:latin typeface="Visue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 Dublin blue" id="{6D57FD24-6AFF-7F41-B61B-15129C67D53B}" vid="{5494679D-FC2E-284F-BAB5-6633A551CA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 Dublin</Template>
  <TotalTime>20305</TotalTime>
  <Words>2024</Words>
  <Application>Microsoft Macintosh PowerPoint</Application>
  <PresentationFormat>On-screen Show (16:9)</PresentationFormat>
  <Paragraphs>170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Al Bayan</vt:lpstr>
      <vt:lpstr>Arial</vt:lpstr>
      <vt:lpstr>Courier New</vt:lpstr>
      <vt:lpstr>Helvetica</vt:lpstr>
      <vt:lpstr>Prophet</vt:lpstr>
      <vt:lpstr>Source Sans Pro</vt:lpstr>
      <vt:lpstr>Visuelt</vt:lpstr>
      <vt:lpstr>TU Dublin</vt:lpstr>
      <vt:lpstr>Reinforcement Learning</vt:lpstr>
      <vt:lpstr>Lab 1 - Goal</vt:lpstr>
      <vt:lpstr>First Step</vt:lpstr>
      <vt:lpstr>Set the GPU</vt:lpstr>
      <vt:lpstr>Install dependencies</vt:lpstr>
      <vt:lpstr>Create virtual screen</vt:lpstr>
      <vt:lpstr>Start Virtual Screen</vt:lpstr>
      <vt:lpstr>Import the packages</vt:lpstr>
      <vt:lpstr>Understand Gymnasium and how it works</vt:lpstr>
      <vt:lpstr>RL Loop Recall</vt:lpstr>
      <vt:lpstr>Rewards and Discounting</vt:lpstr>
      <vt:lpstr>With Gymnasium</vt:lpstr>
      <vt:lpstr>Example</vt:lpstr>
      <vt:lpstr>Create the LunarLander environment 🌛</vt:lpstr>
      <vt:lpstr>Output</vt:lpstr>
      <vt:lpstr>Action Space</vt:lpstr>
      <vt:lpstr>Reward Function</vt:lpstr>
      <vt:lpstr>Vectorized Environment</vt:lpstr>
      <vt:lpstr>Create the Model</vt:lpstr>
      <vt:lpstr>Proximal Policy Optimization</vt:lpstr>
      <vt:lpstr>Model Code</vt:lpstr>
      <vt:lpstr>Evaluate the Agent</vt:lpstr>
      <vt:lpstr>Publish our trained model on the Hub 🔥</vt:lpstr>
      <vt:lpstr>Share your model</vt:lpstr>
      <vt:lpstr>Login</vt:lpstr>
      <vt:lpstr>package_to_hub</vt:lpstr>
      <vt:lpstr>Code</vt:lpstr>
      <vt:lpstr>Congrats</vt:lpstr>
      <vt:lpstr>Task 1</vt:lpstr>
      <vt:lpstr>Solution</vt:lpstr>
      <vt:lpstr>Task 2</vt:lpstr>
      <vt:lpstr>Solution</vt:lpstr>
      <vt:lpstr>Task 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Bujar Raufi</dc:creator>
  <cp:lastModifiedBy>Bojan Bozic</cp:lastModifiedBy>
  <cp:revision>56</cp:revision>
  <dcterms:created xsi:type="dcterms:W3CDTF">2024-01-17T12:16:21Z</dcterms:created>
  <dcterms:modified xsi:type="dcterms:W3CDTF">2024-03-08T12:45:25Z</dcterms:modified>
</cp:coreProperties>
</file>