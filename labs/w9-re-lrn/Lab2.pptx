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330" r:id="rId3"/>
    <p:sldId id="257" r:id="rId4"/>
    <p:sldId id="261" r:id="rId5"/>
    <p:sldId id="307" r:id="rId6"/>
    <p:sldId id="308" r:id="rId7"/>
    <p:sldId id="309" r:id="rId8"/>
    <p:sldId id="310" r:id="rId9"/>
    <p:sldId id="311" r:id="rId10"/>
    <p:sldId id="312" r:id="rId11"/>
    <p:sldId id="313" r:id="rId12"/>
    <p:sldId id="314" r:id="rId13"/>
    <p:sldId id="315" r:id="rId14"/>
    <p:sldId id="316" r:id="rId15"/>
    <p:sldId id="317" r:id="rId16"/>
    <p:sldId id="306"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1" r:id="rId30"/>
    <p:sldId id="332" r:id="rId31"/>
    <p:sldId id="333" r:id="rId32"/>
    <p:sldId id="334" r:id="rId33"/>
    <p:sldId id="335" r:id="rId34"/>
    <p:sldId id="336" r:id="rId35"/>
    <p:sldId id="337" r:id="rId36"/>
    <p:sldId id="338" r:id="rId37"/>
    <p:sldId id="258" r:id="rId3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696F"/>
    <a:srgbClr val="063A59"/>
    <a:srgbClr val="1BA1AE"/>
    <a:srgbClr val="EC607C"/>
    <a:srgbClr val="EC600C"/>
    <a:srgbClr val="E455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25"/>
    <p:restoredTop sz="95714"/>
  </p:normalViewPr>
  <p:slideViewPr>
    <p:cSldViewPr snapToGrid="0" snapToObjects="1" showGuides="1">
      <p:cViewPr varScale="1">
        <p:scale>
          <a:sx n="118" d="100"/>
          <a:sy n="118" d="100"/>
        </p:scale>
        <p:origin x="208" y="92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GB"/>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881F32C-0ABB-4145-A679-00AEBF00F52C}" type="datetimeFigureOut">
              <a:rPr lang="en-US" smtClean="0"/>
              <a:pPr/>
              <a:t>3/8/24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015062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81F32C-0ABB-4145-A679-00AEBF00F52C}" type="datetimeFigureOut">
              <a:rPr lang="en-US" smtClean="0"/>
              <a:pPr/>
              <a:t>3/8/24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4284524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881F32C-0ABB-4145-A679-00AEBF00F52C}" type="datetimeFigureOut">
              <a:rPr lang="en-US" smtClean="0"/>
              <a:pPr/>
              <a:t>3/8/24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96005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881F32C-0ABB-4145-A679-00AEBF00F52C}" type="datetimeFigureOut">
              <a:rPr lang="en-US" smtClean="0"/>
              <a:pPr/>
              <a:t>3/8/24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045374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881F32C-0ABB-4145-A679-00AEBF00F52C}" type="datetimeFigureOut">
              <a:rPr lang="en-US" smtClean="0"/>
              <a:pPr/>
              <a:t>3/8/24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678187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881F32C-0ABB-4145-A679-00AEBF00F52C}" type="datetimeFigureOut">
              <a:rPr lang="en-US" smtClean="0"/>
              <a:pPr/>
              <a:t>3/8/24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587660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81F32C-0ABB-4145-A679-00AEBF00F52C}" type="datetimeFigureOut">
              <a:rPr lang="en-US" smtClean="0"/>
              <a:pPr/>
              <a:t>3/8/24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2539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881F32C-0ABB-4145-A679-00AEBF00F52C}" type="datetimeFigureOut">
              <a:rPr lang="en-US" smtClean="0"/>
              <a:pPr/>
              <a:t>3/8/24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53752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881F32C-0ABB-4145-A679-00AEBF00F52C}" type="datetimeFigureOut">
              <a:rPr lang="en-US" smtClean="0"/>
              <a:pPr/>
              <a:t>3/8/24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289913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81F32C-0ABB-4145-A679-00AEBF00F52C}" type="datetimeFigureOut">
              <a:rPr lang="en-US" smtClean="0"/>
              <a:pPr/>
              <a:t>3/8/24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848376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81F32C-0ABB-4145-A679-00AEBF00F52C}" type="datetimeFigureOut">
              <a:rPr lang="en-US" smtClean="0"/>
              <a:pPr/>
              <a:t>3/8/24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915834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881F32C-0ABB-4145-A679-00AEBF00F52C}" type="datetimeFigureOut">
              <a:rPr lang="en-US" smtClean="0"/>
              <a:pPr/>
              <a:t>3/8/24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9A06A48-4EB9-2C41-9849-9FDB674E928A}" type="slidenum">
              <a:rPr lang="en-US" smtClean="0"/>
              <a:pPr/>
              <a:t>‹#›</a:t>
            </a:fld>
            <a:endParaRPr lang="en-US"/>
          </a:p>
        </p:txBody>
      </p:sp>
    </p:spTree>
    <p:extLst>
      <p:ext uri="{BB962C8B-B14F-4D97-AF65-F5344CB8AC3E}">
        <p14:creationId xmlns:p14="http://schemas.microsoft.com/office/powerpoint/2010/main" val="29303766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ojan.bozic@tudublin.ie"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https://huggingface.co/learn/deep-rl-course"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ymnasium.farama.org/environments/toy_text/frozen_lake/"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https://gymnasium.farama.org/environments/toy_text/taxi/"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ymnasium.farama.org/api/env/#gymnasium.Env.render"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gymlibrary.dev/environments/toy_text/frozen_lak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5E7B3-A538-7E4E-A1F0-7503DE9ED47E}"/>
              </a:ext>
            </a:extLst>
          </p:cNvPr>
          <p:cNvSpPr>
            <a:spLocks noGrp="1"/>
          </p:cNvSpPr>
          <p:nvPr>
            <p:ph type="ctrTitle"/>
          </p:nvPr>
        </p:nvSpPr>
        <p:spPr/>
        <p:txBody>
          <a:bodyPr/>
          <a:lstStyle/>
          <a:p>
            <a:pPr algn="l"/>
            <a:r>
              <a:rPr lang="en-US" b="1" dirty="0">
                <a:solidFill>
                  <a:srgbClr val="1BA1AE"/>
                </a:solidFill>
                <a:latin typeface="Prophet" panose="02010503020000020004" pitchFamily="2" charset="0"/>
                <a:ea typeface="Prophet" panose="02010503020000020004" pitchFamily="2" charset="0"/>
              </a:rPr>
              <a:t>Reinforcement Learning</a:t>
            </a:r>
          </a:p>
        </p:txBody>
      </p:sp>
      <p:sp>
        <p:nvSpPr>
          <p:cNvPr id="3" name="Subtitle 2">
            <a:extLst>
              <a:ext uri="{FF2B5EF4-FFF2-40B4-BE49-F238E27FC236}">
                <a16:creationId xmlns:a16="http://schemas.microsoft.com/office/drawing/2014/main" id="{E9C8999D-6285-2643-888E-7F7B11D9756A}"/>
              </a:ext>
            </a:extLst>
          </p:cNvPr>
          <p:cNvSpPr>
            <a:spLocks noGrp="1"/>
          </p:cNvSpPr>
          <p:nvPr>
            <p:ph type="subTitle" idx="1"/>
          </p:nvPr>
        </p:nvSpPr>
        <p:spPr>
          <a:xfrm>
            <a:off x="685799" y="2571750"/>
            <a:ext cx="6754092" cy="1314450"/>
          </a:xfrm>
        </p:spPr>
        <p:txBody>
          <a:bodyPr/>
          <a:lstStyle/>
          <a:p>
            <a:pPr algn="l"/>
            <a:r>
              <a:rPr lang="en-US" dirty="0">
                <a:solidFill>
                  <a:schemeClr val="bg1"/>
                </a:solidFill>
                <a:latin typeface="Visuelt" pitchFamily="2" charset="77"/>
              </a:rPr>
              <a:t>Lab 2</a:t>
            </a:r>
          </a:p>
        </p:txBody>
      </p:sp>
      <p:sp>
        <p:nvSpPr>
          <p:cNvPr id="4" name="Subtitle 2">
            <a:extLst>
              <a:ext uri="{FF2B5EF4-FFF2-40B4-BE49-F238E27FC236}">
                <a16:creationId xmlns:a16="http://schemas.microsoft.com/office/drawing/2014/main" id="{6E2B0B45-13F5-3534-51E4-1A4961B50A85}"/>
              </a:ext>
            </a:extLst>
          </p:cNvPr>
          <p:cNvSpPr txBox="1">
            <a:spLocks/>
          </p:cNvSpPr>
          <p:nvPr/>
        </p:nvSpPr>
        <p:spPr>
          <a:xfrm>
            <a:off x="685800" y="3078480"/>
            <a:ext cx="6400800" cy="1359589"/>
          </a:xfrm>
          <a:prstGeom prst="rect">
            <a:avLst/>
          </a:prstGeom>
        </p:spPr>
        <p:txBody>
          <a:bodyPr vert="horz" lIns="91440" tIns="45720" rIns="91440" bIns="45720" rtlCol="0">
            <a:normAutofit fontScale="8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2000" dirty="0">
                <a:solidFill>
                  <a:schemeClr val="bg1"/>
                </a:solidFill>
                <a:latin typeface="Visuelt" pitchFamily="2" charset="77"/>
              </a:rPr>
              <a:t>Dr Bojan </a:t>
            </a:r>
            <a:r>
              <a:rPr lang="en-US" sz="2000" dirty="0" err="1">
                <a:solidFill>
                  <a:schemeClr val="bg1"/>
                </a:solidFill>
                <a:latin typeface="Visuelt" pitchFamily="2" charset="77"/>
              </a:rPr>
              <a:t>Božić</a:t>
            </a:r>
            <a:endParaRPr lang="en-US" sz="2000" dirty="0">
              <a:solidFill>
                <a:schemeClr val="bg1"/>
              </a:solidFill>
              <a:latin typeface="Visuelt" pitchFamily="2" charset="77"/>
            </a:endParaRPr>
          </a:p>
          <a:p>
            <a:pPr algn="l"/>
            <a:r>
              <a:rPr lang="en-US" sz="2000" dirty="0">
                <a:solidFill>
                  <a:schemeClr val="bg1"/>
                </a:solidFill>
                <a:latin typeface="Visuelt" pitchFamily="2" charset="77"/>
              </a:rPr>
              <a:t>School of Computer Science</a:t>
            </a:r>
          </a:p>
          <a:p>
            <a:pPr algn="l"/>
            <a:r>
              <a:rPr lang="en-US" sz="2000" dirty="0">
                <a:solidFill>
                  <a:schemeClr val="bg1"/>
                </a:solidFill>
                <a:latin typeface="Visuelt" pitchFamily="2" charset="77"/>
              </a:rPr>
              <a:t>TU Dublin, </a:t>
            </a:r>
            <a:r>
              <a:rPr lang="en-US" sz="2000" dirty="0" err="1">
                <a:solidFill>
                  <a:schemeClr val="bg1"/>
                </a:solidFill>
                <a:latin typeface="Visuelt" pitchFamily="2" charset="77"/>
              </a:rPr>
              <a:t>Grangegorman</a:t>
            </a:r>
            <a:endParaRPr lang="en-US" sz="2000" dirty="0">
              <a:solidFill>
                <a:schemeClr val="bg1"/>
              </a:solidFill>
              <a:latin typeface="Visuelt" pitchFamily="2" charset="77"/>
            </a:endParaRPr>
          </a:p>
          <a:p>
            <a:pPr algn="l"/>
            <a:endParaRPr lang="en-US" sz="2000" dirty="0">
              <a:solidFill>
                <a:schemeClr val="bg1"/>
              </a:solidFill>
              <a:latin typeface="Visuelt" pitchFamily="2" charset="77"/>
            </a:endParaRPr>
          </a:p>
          <a:p>
            <a:pPr algn="l"/>
            <a:r>
              <a:rPr lang="en-US" sz="2000" dirty="0">
                <a:solidFill>
                  <a:schemeClr val="bg1"/>
                </a:solidFill>
                <a:latin typeface="Visuelt" pitchFamily="2" charset="77"/>
                <a:hlinkClick r:id="rId3"/>
              </a:rPr>
              <a:t>bojan.bozic@tudublin</a:t>
            </a:r>
            <a:r>
              <a:rPr lang="en-US" sz="2000">
                <a:solidFill>
                  <a:schemeClr val="bg1"/>
                </a:solidFill>
                <a:latin typeface="Visuelt" pitchFamily="2" charset="77"/>
                <a:hlinkClick r:id="rId3"/>
              </a:rPr>
              <a:t>.ie</a:t>
            </a:r>
            <a:r>
              <a:rPr lang="en-US" sz="2000">
                <a:solidFill>
                  <a:schemeClr val="bg1"/>
                </a:solidFill>
                <a:latin typeface="Visuelt" pitchFamily="2" charset="77"/>
              </a:rPr>
              <a:t> </a:t>
            </a:r>
            <a:endParaRPr lang="en-US" sz="2000" dirty="0">
              <a:solidFill>
                <a:schemeClr val="bg1"/>
              </a:solidFill>
              <a:latin typeface="Visuelt" pitchFamily="2" charset="77"/>
            </a:endParaRPr>
          </a:p>
          <a:p>
            <a:pPr algn="l"/>
            <a:endParaRPr lang="en-US" sz="2000" dirty="0">
              <a:solidFill>
                <a:schemeClr val="bg1"/>
              </a:solidFill>
              <a:latin typeface="Visuelt" pitchFamily="2" charset="77"/>
            </a:endParaRPr>
          </a:p>
        </p:txBody>
      </p:sp>
      <p:sp>
        <p:nvSpPr>
          <p:cNvPr id="6" name="Subtitle 2">
            <a:extLst>
              <a:ext uri="{FF2B5EF4-FFF2-40B4-BE49-F238E27FC236}">
                <a16:creationId xmlns:a16="http://schemas.microsoft.com/office/drawing/2014/main" id="{CA4C8978-9640-D671-810A-69F6D6503435}"/>
              </a:ext>
            </a:extLst>
          </p:cNvPr>
          <p:cNvSpPr txBox="1">
            <a:spLocks/>
          </p:cNvSpPr>
          <p:nvPr/>
        </p:nvSpPr>
        <p:spPr>
          <a:xfrm>
            <a:off x="685800" y="4761687"/>
            <a:ext cx="6400800" cy="293416"/>
          </a:xfrm>
          <a:prstGeom prst="rect">
            <a:avLst/>
          </a:prstGeom>
        </p:spPr>
        <p:txBody>
          <a:bodyPr vert="horz" lIns="91440" tIns="45720" rIns="91440" bIns="45720" rtlCol="0">
            <a:normAutofit fontScale="70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IE" sz="1200" b="1" dirty="0">
                <a:solidFill>
                  <a:schemeClr val="bg1"/>
                </a:solidFill>
                <a:effectLst/>
                <a:latin typeface="Helvetica" pitchFamily="2" charset="0"/>
              </a:rPr>
              <a:t>Slides</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adapted</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from </a:t>
            </a:r>
            <a:r>
              <a:rPr lang="en-IE" sz="1200" b="1" dirty="0">
                <a:solidFill>
                  <a:schemeClr val="bg1"/>
                </a:solidFill>
                <a:effectLst/>
                <a:latin typeface="Helvetica" pitchFamily="2" charset="0"/>
                <a:hlinkClick r:id="rId4"/>
              </a:rPr>
              <a:t>https://huggingface.co/learn/deep-rl-course</a:t>
            </a:r>
            <a:r>
              <a:rPr lang="en-IE" sz="1200" b="1" dirty="0">
                <a:solidFill>
                  <a:schemeClr val="bg1"/>
                </a:solidFill>
                <a:effectLst/>
                <a:latin typeface="Helvetica" pitchFamily="2" charset="0"/>
              </a:rPr>
              <a:t> and Fundamentals</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of</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Machine</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Learning</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for</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Predictive</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Data</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Analytics</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Kelleher,</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Mac</a:t>
            </a:r>
            <a:r>
              <a:rPr lang="en-IE" sz="1200" b="1" dirty="0">
                <a:solidFill>
                  <a:schemeClr val="bg1"/>
                </a:solidFill>
                <a:effectLst/>
                <a:latin typeface="Al Bayan" pitchFamily="2" charset="-78"/>
                <a:cs typeface="Al Bayan" pitchFamily="2" charset="-78"/>
              </a:rPr>
              <a:t> </a:t>
            </a:r>
            <a:r>
              <a:rPr lang="en-IE" sz="1200" b="1" dirty="0" err="1">
                <a:solidFill>
                  <a:schemeClr val="bg1"/>
                </a:solidFill>
                <a:effectLst/>
                <a:latin typeface="Helvetica" pitchFamily="2" charset="0"/>
              </a:rPr>
              <a:t>Namee</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and</a:t>
            </a:r>
            <a:r>
              <a:rPr lang="en-IE" sz="1200" b="1" dirty="0">
                <a:solidFill>
                  <a:schemeClr val="bg1"/>
                </a:solidFill>
                <a:effectLst/>
                <a:latin typeface="Al Bayan" pitchFamily="2" charset="-78"/>
                <a:cs typeface="Al Bayan" pitchFamily="2" charset="-78"/>
              </a:rPr>
              <a:t> </a:t>
            </a:r>
            <a:r>
              <a:rPr lang="en-IE" sz="1200" b="1" dirty="0">
                <a:solidFill>
                  <a:schemeClr val="bg1"/>
                </a:solidFill>
                <a:effectLst/>
                <a:latin typeface="Helvetica" pitchFamily="2" charset="0"/>
              </a:rPr>
              <a:t>D’Arcy </a:t>
            </a:r>
            <a:endParaRPr lang="en-IE" sz="1200" dirty="0">
              <a:solidFill>
                <a:schemeClr val="bg1"/>
              </a:solidFill>
              <a:effectLst/>
              <a:latin typeface="Helvetica"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A5E1-BF07-1E54-51F4-914616D2D16B}"/>
              </a:ext>
            </a:extLst>
          </p:cNvPr>
          <p:cNvSpPr>
            <a:spLocks noGrp="1"/>
          </p:cNvSpPr>
          <p:nvPr>
            <p:ph type="title"/>
          </p:nvPr>
        </p:nvSpPr>
        <p:spPr/>
        <p:txBody>
          <a:bodyPr/>
          <a:lstStyle/>
          <a:p>
            <a:r>
              <a:rPr lang="en-IE" dirty="0"/>
              <a:t>Lab 2 - Goal</a:t>
            </a:r>
          </a:p>
        </p:txBody>
      </p:sp>
      <p:sp>
        <p:nvSpPr>
          <p:cNvPr id="7" name="TextBox 6">
            <a:extLst>
              <a:ext uri="{FF2B5EF4-FFF2-40B4-BE49-F238E27FC236}">
                <a16:creationId xmlns:a16="http://schemas.microsoft.com/office/drawing/2014/main" id="{2977C272-0FC0-E407-259D-45F1D372BFB3}"/>
              </a:ext>
            </a:extLst>
          </p:cNvPr>
          <p:cNvSpPr txBox="1"/>
          <p:nvPr/>
        </p:nvSpPr>
        <p:spPr>
          <a:xfrm>
            <a:off x="457200" y="1188304"/>
            <a:ext cx="8030584" cy="369332"/>
          </a:xfrm>
          <a:prstGeom prst="rect">
            <a:avLst/>
          </a:prstGeom>
          <a:noFill/>
        </p:spPr>
        <p:txBody>
          <a:bodyPr wrap="square">
            <a:spAutoFit/>
          </a:bodyPr>
          <a:lstStyle/>
          <a:p>
            <a:r>
              <a:rPr lang="en-IE" dirty="0"/>
              <a:t>Implement a Q-Learning algorithm in autonomous taxi and frozen lake.</a:t>
            </a:r>
          </a:p>
        </p:txBody>
      </p:sp>
      <p:pic>
        <p:nvPicPr>
          <p:cNvPr id="19460" name="Picture 4" descr="Environments">
            <a:extLst>
              <a:ext uri="{FF2B5EF4-FFF2-40B4-BE49-F238E27FC236}">
                <a16:creationId xmlns:a16="http://schemas.microsoft.com/office/drawing/2014/main" id="{B2EE5AE2-32B5-F717-B9AE-8C67779F4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067" y="1545067"/>
            <a:ext cx="6379285" cy="3588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99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7DDBCF-4874-A2BE-0571-1EDD6C4268E7}"/>
              </a:ext>
            </a:extLst>
          </p:cNvPr>
          <p:cNvSpPr>
            <a:spLocks noGrp="1"/>
          </p:cNvSpPr>
          <p:nvPr>
            <p:ph type="title"/>
          </p:nvPr>
        </p:nvSpPr>
        <p:spPr>
          <a:xfrm>
            <a:off x="457201" y="0"/>
            <a:ext cx="8229600" cy="857250"/>
          </a:xfrm>
        </p:spPr>
        <p:txBody>
          <a:bodyPr/>
          <a:lstStyle/>
          <a:p>
            <a:r>
              <a:rPr lang="en-US" dirty="0"/>
              <a:t>Games</a:t>
            </a:r>
          </a:p>
        </p:txBody>
      </p:sp>
      <p:sp>
        <p:nvSpPr>
          <p:cNvPr id="13" name="TextBox 12">
            <a:extLst>
              <a:ext uri="{FF2B5EF4-FFF2-40B4-BE49-F238E27FC236}">
                <a16:creationId xmlns:a16="http://schemas.microsoft.com/office/drawing/2014/main" id="{57A4A735-C933-1286-B326-A0A4BED553F3}"/>
              </a:ext>
            </a:extLst>
          </p:cNvPr>
          <p:cNvSpPr txBox="1"/>
          <p:nvPr/>
        </p:nvSpPr>
        <p:spPr>
          <a:xfrm>
            <a:off x="688489" y="1379263"/>
            <a:ext cx="7799295" cy="1754326"/>
          </a:xfrm>
          <a:prstGeom prst="rect">
            <a:avLst/>
          </a:prstGeom>
          <a:noFill/>
        </p:spPr>
        <p:txBody>
          <a:bodyPr wrap="square">
            <a:spAutoFit/>
          </a:bodyPr>
          <a:lstStyle/>
          <a:p>
            <a:pPr marL="342900" indent="-342900" algn="l">
              <a:buFont typeface="+mj-lt"/>
              <a:buAutoNum type="arabicPeriod"/>
            </a:pPr>
            <a:r>
              <a:rPr lang="en-GB" b="0" i="0" u="sng" strike="noStrike" dirty="0">
                <a:solidFill>
                  <a:srgbClr val="4B5563"/>
                </a:solidFill>
                <a:effectLst/>
                <a:latin typeface="Source Sans Pro" panose="020B0503030403020204" pitchFamily="34" charset="0"/>
                <a:hlinkClick r:id="rId3"/>
              </a:rPr>
              <a:t>Frozen-Lake-v1 (non-slippery and slippery version)</a:t>
            </a:r>
            <a:r>
              <a:rPr lang="en-GB" b="0" i="0" u="none" strike="noStrike" dirty="0">
                <a:solidFill>
                  <a:srgbClr val="4B5563"/>
                </a:solidFill>
                <a:effectLst/>
                <a:latin typeface="Source Sans Pro" panose="020B0503030403020204" pitchFamily="34" charset="0"/>
              </a:rPr>
              <a:t> ☃️ : where our agent will need to </a:t>
            </a:r>
            <a:r>
              <a:rPr lang="en-GB" b="1" i="0" u="none" strike="noStrike" dirty="0">
                <a:solidFill>
                  <a:srgbClr val="4B5563"/>
                </a:solidFill>
                <a:effectLst/>
                <a:latin typeface="Source Sans Pro" panose="020B0503030403020204" pitchFamily="34" charset="0"/>
              </a:rPr>
              <a:t>go from the starting state (S) to the goal state (G)</a:t>
            </a:r>
            <a:r>
              <a:rPr lang="en-GB" b="0" i="0" u="none" strike="noStrike" dirty="0">
                <a:solidFill>
                  <a:srgbClr val="4B5563"/>
                </a:solidFill>
                <a:effectLst/>
                <a:latin typeface="Source Sans Pro" panose="020B0503030403020204" pitchFamily="34" charset="0"/>
              </a:rPr>
              <a:t> by walking only on frozen tiles (F) and avoiding holes (H).</a:t>
            </a:r>
          </a:p>
          <a:p>
            <a:pPr marL="342900" indent="-342900" algn="l">
              <a:buFont typeface="+mj-lt"/>
              <a:buAutoNum type="arabicPeriod"/>
            </a:pPr>
            <a:endParaRPr lang="en-GB" b="0" i="0" u="none" strike="noStrike" dirty="0">
              <a:solidFill>
                <a:srgbClr val="4B5563"/>
              </a:solidFill>
              <a:effectLst/>
              <a:latin typeface="Source Sans Pro" panose="020B0503030403020204" pitchFamily="34" charset="0"/>
            </a:endParaRPr>
          </a:p>
          <a:p>
            <a:pPr marL="342900" indent="-342900" algn="l">
              <a:buFont typeface="+mj-lt"/>
              <a:buAutoNum type="arabicPeriod"/>
            </a:pPr>
            <a:r>
              <a:rPr lang="en-GB" b="0" i="0" u="sng" strike="noStrike" dirty="0">
                <a:solidFill>
                  <a:srgbClr val="4B5563"/>
                </a:solidFill>
                <a:effectLst/>
                <a:latin typeface="Source Sans Pro" panose="020B0503030403020204" pitchFamily="34" charset="0"/>
                <a:hlinkClick r:id="rId4"/>
              </a:rPr>
              <a:t>An autonomous taxi</a:t>
            </a:r>
            <a:r>
              <a:rPr lang="en-GB" b="0" i="0" u="none" strike="noStrike" dirty="0">
                <a:solidFill>
                  <a:srgbClr val="4B5563"/>
                </a:solidFill>
                <a:effectLst/>
                <a:latin typeface="Source Sans Pro" panose="020B0503030403020204" pitchFamily="34" charset="0"/>
              </a:rPr>
              <a:t> 🚖 will need </a:t>
            </a:r>
            <a:r>
              <a:rPr lang="en-GB" b="1" i="0" u="none" strike="noStrike" dirty="0">
                <a:solidFill>
                  <a:srgbClr val="4B5563"/>
                </a:solidFill>
                <a:effectLst/>
                <a:latin typeface="Source Sans Pro" panose="020B0503030403020204" pitchFamily="34" charset="0"/>
              </a:rPr>
              <a:t>to learn to navigate</a:t>
            </a:r>
            <a:r>
              <a:rPr lang="en-GB" b="0" i="0" u="none" strike="noStrike" dirty="0">
                <a:solidFill>
                  <a:srgbClr val="4B5563"/>
                </a:solidFill>
                <a:effectLst/>
                <a:latin typeface="Source Sans Pro" panose="020B0503030403020204" pitchFamily="34" charset="0"/>
              </a:rPr>
              <a:t> a city to </a:t>
            </a:r>
            <a:r>
              <a:rPr lang="en-GB" b="1" i="0" u="none" strike="noStrike" dirty="0">
                <a:solidFill>
                  <a:srgbClr val="4B5563"/>
                </a:solidFill>
                <a:effectLst/>
                <a:latin typeface="Source Sans Pro" panose="020B0503030403020204" pitchFamily="34" charset="0"/>
              </a:rPr>
              <a:t>transport its passengers from point A to point B.</a:t>
            </a:r>
            <a:endParaRPr lang="en-GB" b="0" i="0" u="none" strike="noStrike" dirty="0">
              <a:solidFill>
                <a:srgbClr val="4B5563"/>
              </a:solidFill>
              <a:effectLst/>
              <a:latin typeface="Source Sans Pro" panose="020B05030304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11C2-CF15-703E-C040-EE82B6726C49}"/>
              </a:ext>
            </a:extLst>
          </p:cNvPr>
          <p:cNvSpPr>
            <a:spLocks noGrp="1"/>
          </p:cNvSpPr>
          <p:nvPr>
            <p:ph type="title"/>
          </p:nvPr>
        </p:nvSpPr>
        <p:spPr/>
        <p:txBody>
          <a:bodyPr/>
          <a:lstStyle/>
          <a:p>
            <a:r>
              <a:rPr lang="en-US" dirty="0"/>
              <a:t>Q-Learning</a:t>
            </a:r>
          </a:p>
        </p:txBody>
      </p:sp>
      <p:sp>
        <p:nvSpPr>
          <p:cNvPr id="14" name="TextBox 13">
            <a:extLst>
              <a:ext uri="{FF2B5EF4-FFF2-40B4-BE49-F238E27FC236}">
                <a16:creationId xmlns:a16="http://schemas.microsoft.com/office/drawing/2014/main" id="{AED5B3D9-79C0-E686-4006-12C83F6B6367}"/>
              </a:ext>
            </a:extLst>
          </p:cNvPr>
          <p:cNvSpPr txBox="1"/>
          <p:nvPr/>
        </p:nvSpPr>
        <p:spPr>
          <a:xfrm>
            <a:off x="457200" y="944766"/>
            <a:ext cx="8229600" cy="1754326"/>
          </a:xfrm>
          <a:prstGeom prst="rect">
            <a:avLst/>
          </a:prstGeom>
          <a:noFill/>
        </p:spPr>
        <p:txBody>
          <a:bodyPr wrap="square">
            <a:spAutoFit/>
          </a:bodyPr>
          <a:lstStyle/>
          <a:p>
            <a:pPr algn="l"/>
            <a:r>
              <a:rPr lang="en-GB" b="0" i="1" u="none" strike="noStrike" dirty="0">
                <a:solidFill>
                  <a:srgbClr val="4B5563"/>
                </a:solidFill>
                <a:effectLst/>
                <a:latin typeface="Source Sans Pro" panose="020B0503030403020204" pitchFamily="34" charset="0"/>
              </a:rPr>
              <a:t>Q-Learning</a:t>
            </a:r>
            <a:r>
              <a:rPr lang="en-GB" b="0" i="0" u="none" strike="noStrike" dirty="0">
                <a:solidFill>
                  <a:srgbClr val="4B5563"/>
                </a:solidFill>
                <a:effectLst/>
                <a:latin typeface="Source Sans Pro" panose="020B0503030403020204" pitchFamily="34" charset="0"/>
              </a:rPr>
              <a:t> </a:t>
            </a:r>
            <a:r>
              <a:rPr lang="en-GB" b="1" i="0" u="none" strike="noStrike" dirty="0">
                <a:solidFill>
                  <a:srgbClr val="4B5563"/>
                </a:solidFill>
                <a:effectLst/>
                <a:latin typeface="Source Sans Pro" panose="020B0503030403020204" pitchFamily="34" charset="0"/>
              </a:rPr>
              <a:t>is the RL algorithm that</a:t>
            </a:r>
            <a:r>
              <a:rPr lang="en-GB" b="0" i="0" u="none" strike="noStrike" dirty="0">
                <a:solidFill>
                  <a:srgbClr val="4B5563"/>
                </a:solidFill>
                <a:effectLst/>
                <a:latin typeface="Source Sans Pro" panose="020B0503030403020204" pitchFamily="34" charset="0"/>
              </a:rPr>
              <a:t>:</a:t>
            </a:r>
          </a:p>
          <a:p>
            <a:pPr algn="l"/>
            <a:endParaRPr lang="en-GB" b="0" i="0" u="none" strike="noStrike" dirty="0">
              <a:solidFill>
                <a:srgbClr val="4B5563"/>
              </a:solidFill>
              <a:effectLst/>
              <a:latin typeface="Source Sans Pro" panose="020B0503030403020204" pitchFamily="34" charset="0"/>
            </a:endParaRP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Trains </a:t>
            </a:r>
            <a:r>
              <a:rPr lang="en-GB" b="0" i="1" u="none" strike="noStrike" dirty="0">
                <a:solidFill>
                  <a:srgbClr val="4B5563"/>
                </a:solidFill>
                <a:effectLst/>
                <a:latin typeface="Source Sans Pro" panose="020B0503030403020204" pitchFamily="34" charset="0"/>
              </a:rPr>
              <a:t>Q-Function</a:t>
            </a:r>
            <a:r>
              <a:rPr lang="en-GB" b="0" i="0" u="none" strike="noStrike" dirty="0">
                <a:solidFill>
                  <a:srgbClr val="4B5563"/>
                </a:solidFill>
                <a:effectLst/>
                <a:latin typeface="Source Sans Pro" panose="020B0503030403020204" pitchFamily="34" charset="0"/>
              </a:rPr>
              <a:t>, an </a:t>
            </a:r>
            <a:r>
              <a:rPr lang="en-GB" b="1" i="0" u="none" strike="noStrike" dirty="0">
                <a:solidFill>
                  <a:srgbClr val="4B5563"/>
                </a:solidFill>
                <a:effectLst/>
                <a:latin typeface="Source Sans Pro" panose="020B0503030403020204" pitchFamily="34" charset="0"/>
              </a:rPr>
              <a:t>action-value function</a:t>
            </a:r>
            <a:r>
              <a:rPr lang="en-GB" b="0" i="0" u="none" strike="noStrike" dirty="0">
                <a:solidFill>
                  <a:srgbClr val="4B5563"/>
                </a:solidFill>
                <a:effectLst/>
                <a:latin typeface="Source Sans Pro" panose="020B0503030403020204" pitchFamily="34" charset="0"/>
              </a:rPr>
              <a:t> that is encoded, in internal memory, by a </a:t>
            </a:r>
            <a:r>
              <a:rPr lang="en-GB" b="0" i="1" u="none" strike="noStrike" dirty="0">
                <a:solidFill>
                  <a:srgbClr val="4B5563"/>
                </a:solidFill>
                <a:effectLst/>
                <a:latin typeface="Source Sans Pro" panose="020B0503030403020204" pitchFamily="34" charset="0"/>
              </a:rPr>
              <a:t>Q-table</a:t>
            </a:r>
            <a:r>
              <a:rPr lang="en-GB" b="0" i="0" u="none" strike="noStrike" dirty="0">
                <a:solidFill>
                  <a:srgbClr val="4B5563"/>
                </a:solidFill>
                <a:effectLst/>
                <a:latin typeface="Source Sans Pro" panose="020B0503030403020204" pitchFamily="34" charset="0"/>
              </a:rPr>
              <a:t> </a:t>
            </a:r>
            <a:r>
              <a:rPr lang="en-GB" b="1" i="0" u="none" strike="noStrike" dirty="0">
                <a:solidFill>
                  <a:srgbClr val="4B5563"/>
                </a:solidFill>
                <a:effectLst/>
                <a:latin typeface="Source Sans Pro" panose="020B0503030403020204" pitchFamily="34" charset="0"/>
              </a:rPr>
              <a:t>that contains all the state-action pair values.</a:t>
            </a:r>
            <a:endParaRPr lang="en-GB" b="0" i="0" u="none" strike="noStrike" dirty="0">
              <a:solidFill>
                <a:srgbClr val="4B5563"/>
              </a:solidFill>
              <a:effectLst/>
              <a:latin typeface="Source Sans Pro" panose="020B0503030403020204" pitchFamily="34" charset="0"/>
            </a:endParaRP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Given a state and action, our Q-Function </a:t>
            </a:r>
            <a:r>
              <a:rPr lang="en-GB" b="1" i="0" u="none" strike="noStrike" dirty="0">
                <a:solidFill>
                  <a:srgbClr val="4B5563"/>
                </a:solidFill>
                <a:effectLst/>
                <a:latin typeface="Source Sans Pro" panose="020B0503030403020204" pitchFamily="34" charset="0"/>
              </a:rPr>
              <a:t>will search the Q-table for the corresponding value.</a:t>
            </a:r>
            <a:endParaRPr lang="en-GB" b="0" i="0" u="none" strike="noStrike" dirty="0">
              <a:solidFill>
                <a:srgbClr val="4B5563"/>
              </a:solidFill>
              <a:effectLst/>
              <a:latin typeface="Source Sans Pro" panose="020B0503030403020204" pitchFamily="34" charset="0"/>
            </a:endParaRPr>
          </a:p>
        </p:txBody>
      </p:sp>
      <p:pic>
        <p:nvPicPr>
          <p:cNvPr id="2056" name="Picture 8" descr="Q function">
            <a:extLst>
              <a:ext uri="{FF2B5EF4-FFF2-40B4-BE49-F238E27FC236}">
                <a16:creationId xmlns:a16="http://schemas.microsoft.com/office/drawing/2014/main" id="{D6EE2C28-E841-8013-58F9-3783F4B66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13" y="3096732"/>
            <a:ext cx="4796339" cy="123822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6425265-011F-D40D-78D7-A0603E545C4D}"/>
              </a:ext>
            </a:extLst>
          </p:cNvPr>
          <p:cNvSpPr txBox="1"/>
          <p:nvPr/>
        </p:nvSpPr>
        <p:spPr>
          <a:xfrm>
            <a:off x="4448287" y="2529392"/>
            <a:ext cx="4572000" cy="1754326"/>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When the training is done, </a:t>
            </a:r>
            <a:r>
              <a:rPr lang="en-GB" b="1" i="0" u="none" strike="noStrike" dirty="0">
                <a:solidFill>
                  <a:srgbClr val="4B5563"/>
                </a:solidFill>
                <a:effectLst/>
                <a:latin typeface="Source Sans Pro" panose="020B0503030403020204" pitchFamily="34" charset="0"/>
              </a:rPr>
              <a:t>we have an optimal Q-Function, so an optimal Q-Table.</a:t>
            </a:r>
            <a:endParaRPr lang="en-GB" b="0" i="0" u="none" strike="noStrike" dirty="0">
              <a:solidFill>
                <a:srgbClr val="4B5563"/>
              </a:solidFill>
              <a:effectLst/>
              <a:latin typeface="Source Sans Pro" panose="020B0503030403020204" pitchFamily="34" charset="0"/>
            </a:endParaRP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And if we </a:t>
            </a:r>
            <a:r>
              <a:rPr lang="en-GB" b="1" i="0" u="none" strike="noStrike" dirty="0">
                <a:solidFill>
                  <a:srgbClr val="4B5563"/>
                </a:solidFill>
                <a:effectLst/>
                <a:latin typeface="Source Sans Pro" panose="020B0503030403020204" pitchFamily="34" charset="0"/>
              </a:rPr>
              <a:t>have an optimal Q-function</a:t>
            </a:r>
            <a:r>
              <a:rPr lang="en-GB" b="0" i="0" u="none" strike="noStrike" dirty="0">
                <a:solidFill>
                  <a:srgbClr val="4B5563"/>
                </a:solidFill>
                <a:effectLst/>
                <a:latin typeface="Source Sans Pro" panose="020B0503030403020204" pitchFamily="34" charset="0"/>
              </a:rPr>
              <a:t>, we have an optimal policy, since we </a:t>
            </a:r>
            <a:r>
              <a:rPr lang="en-GB" b="1" i="0" u="none" strike="noStrike" dirty="0">
                <a:solidFill>
                  <a:srgbClr val="4B5563"/>
                </a:solidFill>
                <a:effectLst/>
                <a:latin typeface="Source Sans Pro" panose="020B0503030403020204" pitchFamily="34" charset="0"/>
              </a:rPr>
              <a:t>know for each state, the best action to take.</a:t>
            </a:r>
            <a:endParaRPr lang="en-GB" b="0" i="0" u="none" strike="noStrike" dirty="0">
              <a:solidFill>
                <a:srgbClr val="4B5563"/>
              </a:solidFill>
              <a:effectLst/>
              <a:latin typeface="Source Sans Pro" panose="020B0503030403020204" pitchFamily="34" charset="0"/>
            </a:endParaRPr>
          </a:p>
        </p:txBody>
      </p:sp>
    </p:spTree>
    <p:extLst>
      <p:ext uri="{BB962C8B-B14F-4D97-AF65-F5344CB8AC3E}">
        <p14:creationId xmlns:p14="http://schemas.microsoft.com/office/powerpoint/2010/main" val="3807974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F3181-9348-1075-B3AE-93FF3F7D3750}"/>
              </a:ext>
            </a:extLst>
          </p:cNvPr>
          <p:cNvSpPr>
            <a:spLocks noGrp="1"/>
          </p:cNvSpPr>
          <p:nvPr>
            <p:ph type="title"/>
          </p:nvPr>
        </p:nvSpPr>
        <p:spPr/>
        <p:txBody>
          <a:bodyPr>
            <a:normAutofit/>
          </a:bodyPr>
          <a:lstStyle/>
          <a:p>
            <a:r>
              <a:rPr lang="en-US" dirty="0"/>
              <a:t>Q-Learning</a:t>
            </a:r>
          </a:p>
        </p:txBody>
      </p:sp>
      <p:pic>
        <p:nvPicPr>
          <p:cNvPr id="3076" name="Picture 4">
            <a:extLst>
              <a:ext uri="{FF2B5EF4-FFF2-40B4-BE49-F238E27FC236}">
                <a16:creationId xmlns:a16="http://schemas.microsoft.com/office/drawing/2014/main" id="{03C582B8-54AF-54DE-ACAD-080E1A19A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782" y="205979"/>
            <a:ext cx="8229600" cy="4624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25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FA2D2-50EB-0D7E-C517-3182C34D6E73}"/>
              </a:ext>
            </a:extLst>
          </p:cNvPr>
          <p:cNvSpPr>
            <a:spLocks noGrp="1"/>
          </p:cNvSpPr>
          <p:nvPr>
            <p:ph type="title"/>
          </p:nvPr>
        </p:nvSpPr>
        <p:spPr/>
        <p:txBody>
          <a:bodyPr/>
          <a:lstStyle/>
          <a:p>
            <a:r>
              <a:rPr lang="en-US" dirty="0"/>
              <a:t>Setup</a:t>
            </a:r>
          </a:p>
        </p:txBody>
      </p:sp>
      <p:pic>
        <p:nvPicPr>
          <p:cNvPr id="21" name="Picture 20">
            <a:extLst>
              <a:ext uri="{FF2B5EF4-FFF2-40B4-BE49-F238E27FC236}">
                <a16:creationId xmlns:a16="http://schemas.microsoft.com/office/drawing/2014/main" id="{BFF35A59-60D9-AE6B-6957-F9255F6153F0}"/>
              </a:ext>
            </a:extLst>
          </p:cNvPr>
          <p:cNvPicPr>
            <a:picLocks noChangeAspect="1"/>
          </p:cNvPicPr>
          <p:nvPr/>
        </p:nvPicPr>
        <p:blipFill>
          <a:blip r:embed="rId2"/>
          <a:stretch>
            <a:fillRect/>
          </a:stretch>
        </p:blipFill>
        <p:spPr>
          <a:xfrm>
            <a:off x="457200" y="1289138"/>
            <a:ext cx="8062856" cy="858721"/>
          </a:xfrm>
          <a:prstGeom prst="rect">
            <a:avLst/>
          </a:prstGeom>
        </p:spPr>
      </p:pic>
      <p:pic>
        <p:nvPicPr>
          <p:cNvPr id="22" name="Picture 21">
            <a:extLst>
              <a:ext uri="{FF2B5EF4-FFF2-40B4-BE49-F238E27FC236}">
                <a16:creationId xmlns:a16="http://schemas.microsoft.com/office/drawing/2014/main" id="{C0222A3E-5623-FDA1-AE7A-20B83E38D4CF}"/>
              </a:ext>
            </a:extLst>
          </p:cNvPr>
          <p:cNvPicPr>
            <a:picLocks noChangeAspect="1"/>
          </p:cNvPicPr>
          <p:nvPr/>
        </p:nvPicPr>
        <p:blipFill>
          <a:blip r:embed="rId3"/>
          <a:stretch>
            <a:fillRect/>
          </a:stretch>
        </p:blipFill>
        <p:spPr>
          <a:xfrm>
            <a:off x="1683870" y="2571750"/>
            <a:ext cx="5071932" cy="1851070"/>
          </a:xfrm>
          <a:prstGeom prst="rect">
            <a:avLst/>
          </a:prstGeom>
        </p:spPr>
      </p:pic>
    </p:spTree>
    <p:extLst>
      <p:ext uri="{BB962C8B-B14F-4D97-AF65-F5344CB8AC3E}">
        <p14:creationId xmlns:p14="http://schemas.microsoft.com/office/powerpoint/2010/main" val="1692648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D2DD-B27D-3508-1F23-2F42D61302AA}"/>
              </a:ext>
            </a:extLst>
          </p:cNvPr>
          <p:cNvSpPr>
            <a:spLocks noGrp="1"/>
          </p:cNvSpPr>
          <p:nvPr>
            <p:ph type="title"/>
          </p:nvPr>
        </p:nvSpPr>
        <p:spPr/>
        <p:txBody>
          <a:bodyPr>
            <a:normAutofit/>
          </a:bodyPr>
          <a:lstStyle/>
          <a:p>
            <a:r>
              <a:rPr lang="en-US" dirty="0"/>
              <a:t>Import Packages</a:t>
            </a:r>
          </a:p>
        </p:txBody>
      </p:sp>
      <p:pic>
        <p:nvPicPr>
          <p:cNvPr id="4102" name="Picture 4101">
            <a:extLst>
              <a:ext uri="{FF2B5EF4-FFF2-40B4-BE49-F238E27FC236}">
                <a16:creationId xmlns:a16="http://schemas.microsoft.com/office/drawing/2014/main" id="{285053A5-B4B5-1878-98E4-6526AF81B608}"/>
              </a:ext>
            </a:extLst>
          </p:cNvPr>
          <p:cNvPicPr>
            <a:picLocks noChangeAspect="1"/>
          </p:cNvPicPr>
          <p:nvPr/>
        </p:nvPicPr>
        <p:blipFill>
          <a:blip r:embed="rId2"/>
          <a:stretch>
            <a:fillRect/>
          </a:stretch>
        </p:blipFill>
        <p:spPr>
          <a:xfrm>
            <a:off x="2279650" y="1556022"/>
            <a:ext cx="4584700" cy="2540000"/>
          </a:xfrm>
          <a:prstGeom prst="rect">
            <a:avLst/>
          </a:prstGeom>
        </p:spPr>
      </p:pic>
    </p:spTree>
    <p:extLst>
      <p:ext uri="{BB962C8B-B14F-4D97-AF65-F5344CB8AC3E}">
        <p14:creationId xmlns:p14="http://schemas.microsoft.com/office/powerpoint/2010/main" val="37106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0998A-6249-15C8-07C0-32DF601CD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5D724-D108-F805-D5C8-6F298629CE82}"/>
              </a:ext>
            </a:extLst>
          </p:cNvPr>
          <p:cNvSpPr>
            <a:spLocks noGrp="1"/>
          </p:cNvSpPr>
          <p:nvPr>
            <p:ph type="title"/>
          </p:nvPr>
        </p:nvSpPr>
        <p:spPr>
          <a:xfrm>
            <a:off x="457199" y="205979"/>
            <a:ext cx="8229600" cy="857250"/>
          </a:xfrm>
        </p:spPr>
        <p:txBody>
          <a:bodyPr>
            <a:noAutofit/>
          </a:bodyPr>
          <a:lstStyle/>
          <a:p>
            <a:pPr algn="l"/>
            <a:r>
              <a:rPr lang="en-GB" sz="3600" i="0" u="none" strike="noStrike" dirty="0">
                <a:effectLst/>
              </a:rPr>
              <a:t>Part 1: Frozen Lake ⛄ (non slippery version)</a:t>
            </a:r>
          </a:p>
        </p:txBody>
      </p:sp>
      <p:sp>
        <p:nvSpPr>
          <p:cNvPr id="5120" name="TextBox 5119">
            <a:extLst>
              <a:ext uri="{FF2B5EF4-FFF2-40B4-BE49-F238E27FC236}">
                <a16:creationId xmlns:a16="http://schemas.microsoft.com/office/drawing/2014/main" id="{3903EC4A-0813-2A72-6A6F-52AD4D238F56}"/>
              </a:ext>
            </a:extLst>
          </p:cNvPr>
          <p:cNvSpPr txBox="1"/>
          <p:nvPr/>
        </p:nvSpPr>
        <p:spPr>
          <a:xfrm>
            <a:off x="457199" y="1244202"/>
            <a:ext cx="8229600" cy="3416320"/>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We’re going to train our Q-Learning agent </a:t>
            </a:r>
            <a:r>
              <a:rPr lang="en-GB" b="1" i="0" u="none" strike="noStrike" dirty="0">
                <a:solidFill>
                  <a:srgbClr val="4B5563"/>
                </a:solidFill>
                <a:effectLst/>
                <a:latin typeface="Source Sans Pro" panose="020B0503030403020204" pitchFamily="34" charset="0"/>
              </a:rPr>
              <a:t>to navigate from the starting state (S) to the goal state (G) by walking only on frozen tiles (F) and avoid holes (H)</a:t>
            </a:r>
            <a:r>
              <a:rPr lang="en-GB" b="0" i="0" u="none" strike="noStrike" dirty="0">
                <a:solidFill>
                  <a:srgbClr val="4B5563"/>
                </a:solidFill>
                <a:effectLst/>
                <a:latin typeface="Source Sans Pro" panose="020B0503030403020204" pitchFamily="34" charset="0"/>
              </a:rPr>
              <a:t>.</a:t>
            </a:r>
          </a:p>
          <a:p>
            <a:pPr algn="l"/>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We can have two sizes of environment:</a:t>
            </a:r>
          </a:p>
          <a:p>
            <a:pPr marL="285750" indent="-285750" algn="l">
              <a:buFont typeface="Arial" panose="020B0604020202020204" pitchFamily="34" charset="0"/>
              <a:buChar char="•"/>
            </a:pPr>
            <a:r>
              <a:rPr lang="en-GB" b="0" i="0" u="none" strike="noStrike" dirty="0" err="1">
                <a:solidFill>
                  <a:srgbClr val="4B5563"/>
                </a:solidFill>
                <a:effectLst/>
                <a:latin typeface="Source Sans Pro" panose="020B0503030403020204" pitchFamily="34" charset="0"/>
              </a:rPr>
              <a:t>map_name</a:t>
            </a:r>
            <a:r>
              <a:rPr lang="en-GB" b="0" i="0" u="none" strike="noStrike" dirty="0">
                <a:solidFill>
                  <a:srgbClr val="4B5563"/>
                </a:solidFill>
                <a:effectLst/>
                <a:latin typeface="Source Sans Pro" panose="020B0503030403020204" pitchFamily="34" charset="0"/>
              </a:rPr>
              <a:t>="4x4": a 4x4 grid version</a:t>
            </a:r>
          </a:p>
          <a:p>
            <a:pPr marL="285750" indent="-285750" algn="l">
              <a:buFont typeface="Arial" panose="020B0604020202020204" pitchFamily="34" charset="0"/>
              <a:buChar char="•"/>
            </a:pPr>
            <a:r>
              <a:rPr lang="en-GB" b="0" i="0" u="none" strike="noStrike" dirty="0" err="1">
                <a:solidFill>
                  <a:srgbClr val="4B5563"/>
                </a:solidFill>
                <a:effectLst/>
                <a:latin typeface="Source Sans Pro" panose="020B0503030403020204" pitchFamily="34" charset="0"/>
              </a:rPr>
              <a:t>map_name</a:t>
            </a:r>
            <a:r>
              <a:rPr lang="en-GB" b="0" i="0" u="none" strike="noStrike" dirty="0">
                <a:solidFill>
                  <a:srgbClr val="4B5563"/>
                </a:solidFill>
                <a:effectLst/>
                <a:latin typeface="Source Sans Pro" panose="020B0503030403020204" pitchFamily="34" charset="0"/>
              </a:rPr>
              <a:t>="8x8": a 8x8 grid version</a:t>
            </a:r>
          </a:p>
          <a:p>
            <a:pPr marL="285750" indent="-285750" algn="l">
              <a:buFont typeface="Arial" panose="020B0604020202020204" pitchFamily="34" charset="0"/>
              <a:buChar char="•"/>
            </a:pPr>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The environment has two modes:</a:t>
            </a:r>
          </a:p>
          <a:p>
            <a:pPr marL="285750" indent="-285750" algn="l">
              <a:buFont typeface="Arial" panose="020B0604020202020204" pitchFamily="34" charset="0"/>
              <a:buChar char="•"/>
            </a:pPr>
            <a:r>
              <a:rPr lang="en-GB" b="0" i="0" u="none" strike="noStrike" dirty="0" err="1">
                <a:solidFill>
                  <a:srgbClr val="4B5563"/>
                </a:solidFill>
                <a:effectLst/>
                <a:latin typeface="Source Sans Pro" panose="020B0503030403020204" pitchFamily="34" charset="0"/>
              </a:rPr>
              <a:t>is_slippery</a:t>
            </a:r>
            <a:r>
              <a:rPr lang="en-GB" b="0" i="0" u="none" strike="noStrike" dirty="0">
                <a:solidFill>
                  <a:srgbClr val="4B5563"/>
                </a:solidFill>
                <a:effectLst/>
                <a:latin typeface="Source Sans Pro" panose="020B0503030403020204" pitchFamily="34" charset="0"/>
              </a:rPr>
              <a:t>=False: The agent always moves </a:t>
            </a:r>
            <a:r>
              <a:rPr lang="en-GB" b="1" i="0" u="none" strike="noStrike" dirty="0">
                <a:solidFill>
                  <a:srgbClr val="4B5563"/>
                </a:solidFill>
                <a:effectLst/>
                <a:latin typeface="Source Sans Pro" panose="020B0503030403020204" pitchFamily="34" charset="0"/>
              </a:rPr>
              <a:t>in the intended direction</a:t>
            </a:r>
            <a:r>
              <a:rPr lang="en-GB" b="0" i="0" u="none" strike="noStrike" dirty="0">
                <a:solidFill>
                  <a:srgbClr val="4B5563"/>
                </a:solidFill>
                <a:effectLst/>
                <a:latin typeface="Source Sans Pro" panose="020B0503030403020204" pitchFamily="34" charset="0"/>
              </a:rPr>
              <a:t> due to the non-slippery nature of the frozen lake (deterministic).</a:t>
            </a:r>
          </a:p>
          <a:p>
            <a:pPr marL="285750" indent="-285750" algn="l">
              <a:buFont typeface="Arial" panose="020B0604020202020204" pitchFamily="34" charset="0"/>
              <a:buChar char="•"/>
            </a:pPr>
            <a:r>
              <a:rPr lang="en-GB" b="0" i="0" u="none" strike="noStrike" dirty="0" err="1">
                <a:solidFill>
                  <a:srgbClr val="4B5563"/>
                </a:solidFill>
                <a:effectLst/>
                <a:latin typeface="Source Sans Pro" panose="020B0503030403020204" pitchFamily="34" charset="0"/>
              </a:rPr>
              <a:t>is_slippery</a:t>
            </a:r>
            <a:r>
              <a:rPr lang="en-GB" b="0" i="0" u="none" strike="noStrike" dirty="0">
                <a:solidFill>
                  <a:srgbClr val="4B5563"/>
                </a:solidFill>
                <a:effectLst/>
                <a:latin typeface="Source Sans Pro" panose="020B0503030403020204" pitchFamily="34" charset="0"/>
              </a:rPr>
              <a:t>=True: The agent </a:t>
            </a:r>
            <a:r>
              <a:rPr lang="en-GB" b="1" i="0" u="none" strike="noStrike" dirty="0">
                <a:solidFill>
                  <a:srgbClr val="4B5563"/>
                </a:solidFill>
                <a:effectLst/>
                <a:latin typeface="Source Sans Pro" panose="020B0503030403020204" pitchFamily="34" charset="0"/>
              </a:rPr>
              <a:t>may not always move in the intended direction</a:t>
            </a:r>
            <a:r>
              <a:rPr lang="en-GB" b="0" i="0" u="none" strike="noStrike" dirty="0">
                <a:solidFill>
                  <a:srgbClr val="4B5563"/>
                </a:solidFill>
                <a:effectLst/>
                <a:latin typeface="Source Sans Pro" panose="020B0503030403020204" pitchFamily="34" charset="0"/>
              </a:rPr>
              <a:t> due to the slippery nature of the frozen lake (stochastic).</a:t>
            </a:r>
          </a:p>
        </p:txBody>
      </p:sp>
    </p:spTree>
    <p:extLst>
      <p:ext uri="{BB962C8B-B14F-4D97-AF65-F5344CB8AC3E}">
        <p14:creationId xmlns:p14="http://schemas.microsoft.com/office/powerpoint/2010/main" val="1452026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5592C-EAEB-5985-A239-B4D0051A4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76C7A-FCFF-4D14-2215-2CFD68110F0A}"/>
              </a:ext>
            </a:extLst>
          </p:cNvPr>
          <p:cNvSpPr>
            <a:spLocks noGrp="1"/>
          </p:cNvSpPr>
          <p:nvPr>
            <p:ph type="title"/>
          </p:nvPr>
        </p:nvSpPr>
        <p:spPr/>
        <p:txBody>
          <a:bodyPr>
            <a:normAutofit/>
          </a:bodyPr>
          <a:lstStyle/>
          <a:p>
            <a:r>
              <a:rPr lang="en-GB" sz="3600" i="0" u="none" strike="noStrike" dirty="0">
                <a:effectLst/>
              </a:rPr>
              <a:t>Frozen Lake</a:t>
            </a:r>
          </a:p>
        </p:txBody>
      </p:sp>
      <p:sp>
        <p:nvSpPr>
          <p:cNvPr id="57" name="TextBox 56">
            <a:extLst>
              <a:ext uri="{FF2B5EF4-FFF2-40B4-BE49-F238E27FC236}">
                <a16:creationId xmlns:a16="http://schemas.microsoft.com/office/drawing/2014/main" id="{403B4790-3301-4118-3D92-249D52BF12E6}"/>
              </a:ext>
            </a:extLst>
          </p:cNvPr>
          <p:cNvSpPr txBox="1"/>
          <p:nvPr/>
        </p:nvSpPr>
        <p:spPr>
          <a:xfrm>
            <a:off x="344245" y="1063229"/>
            <a:ext cx="8229600" cy="2308324"/>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For now let’s keep it simple with the 4x4 map and non-slippery. We add a parameter called </a:t>
            </a:r>
            <a:r>
              <a:rPr lang="en-GB" b="0" i="0" u="none" strike="noStrike" dirty="0" err="1">
                <a:solidFill>
                  <a:srgbClr val="4B5563"/>
                </a:solidFill>
                <a:effectLst/>
                <a:latin typeface="Source Sans Pro" panose="020B0503030403020204" pitchFamily="34" charset="0"/>
              </a:rPr>
              <a:t>render_mode</a:t>
            </a:r>
            <a:r>
              <a:rPr lang="en-GB" b="0" i="0" u="none" strike="noStrike" dirty="0">
                <a:solidFill>
                  <a:srgbClr val="4B5563"/>
                </a:solidFill>
                <a:effectLst/>
                <a:latin typeface="Source Sans Pro" panose="020B0503030403020204" pitchFamily="34" charset="0"/>
              </a:rPr>
              <a:t> that specifies how the environment should be visualised. In our case because we </a:t>
            </a:r>
            <a:r>
              <a:rPr lang="en-GB" b="1" i="0" u="none" strike="noStrike" dirty="0">
                <a:solidFill>
                  <a:srgbClr val="4B5563"/>
                </a:solidFill>
                <a:effectLst/>
                <a:latin typeface="Source Sans Pro" panose="020B0503030403020204" pitchFamily="34" charset="0"/>
              </a:rPr>
              <a:t>want to record a video of the environment at the end, we need to set </a:t>
            </a:r>
            <a:r>
              <a:rPr lang="en-GB" b="1" i="0" u="none" strike="noStrike" dirty="0" err="1">
                <a:solidFill>
                  <a:srgbClr val="4B5563"/>
                </a:solidFill>
                <a:effectLst/>
                <a:latin typeface="Source Sans Pro" panose="020B0503030403020204" pitchFamily="34" charset="0"/>
              </a:rPr>
              <a:t>render_mode</a:t>
            </a:r>
            <a:r>
              <a:rPr lang="en-GB" b="1" i="0" u="none" strike="noStrike" dirty="0">
                <a:solidFill>
                  <a:srgbClr val="4B5563"/>
                </a:solidFill>
                <a:effectLst/>
                <a:latin typeface="Source Sans Pro" panose="020B0503030403020204" pitchFamily="34" charset="0"/>
              </a:rPr>
              <a:t> to </a:t>
            </a:r>
            <a:r>
              <a:rPr lang="en-GB" b="1" i="0" u="none" strike="noStrike" dirty="0" err="1">
                <a:solidFill>
                  <a:srgbClr val="4B5563"/>
                </a:solidFill>
                <a:effectLst/>
                <a:latin typeface="Source Sans Pro" panose="020B0503030403020204" pitchFamily="34" charset="0"/>
              </a:rPr>
              <a:t>rgb_array</a:t>
            </a:r>
            <a:r>
              <a:rPr lang="en-GB" b="0" i="0" u="none" strike="noStrike" dirty="0">
                <a:solidFill>
                  <a:srgbClr val="4B5563"/>
                </a:solidFill>
                <a:effectLst/>
                <a:latin typeface="Source Sans Pro" panose="020B0503030403020204" pitchFamily="34" charset="0"/>
              </a:rPr>
              <a:t>.</a:t>
            </a:r>
          </a:p>
          <a:p>
            <a:pPr algn="l"/>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As </a:t>
            </a:r>
            <a:r>
              <a:rPr lang="en-GB" b="0" i="0" u="sng" strike="noStrike" dirty="0">
                <a:solidFill>
                  <a:srgbClr val="4B5563"/>
                </a:solidFill>
                <a:effectLst/>
                <a:latin typeface="Source Sans Pro" panose="020B0503030403020204" pitchFamily="34" charset="0"/>
                <a:hlinkClick r:id="rId2"/>
              </a:rPr>
              <a:t>explained in the documentation</a:t>
            </a:r>
            <a:r>
              <a:rPr lang="en-GB" b="0" i="0" u="none" strike="noStrike" dirty="0">
                <a:solidFill>
                  <a:srgbClr val="4B5563"/>
                </a:solidFill>
                <a:effectLst/>
                <a:latin typeface="Source Sans Pro" panose="020B0503030403020204" pitchFamily="34" charset="0"/>
              </a:rPr>
              <a:t> “</a:t>
            </a:r>
            <a:r>
              <a:rPr lang="en-GB" b="0" i="0" u="none" strike="noStrike" dirty="0" err="1">
                <a:solidFill>
                  <a:srgbClr val="4B5563"/>
                </a:solidFill>
                <a:effectLst/>
                <a:latin typeface="Source Sans Pro" panose="020B0503030403020204" pitchFamily="34" charset="0"/>
              </a:rPr>
              <a:t>rgb_array</a:t>
            </a:r>
            <a:r>
              <a:rPr lang="en-GB" b="0" i="0" u="none" strike="noStrike" dirty="0">
                <a:solidFill>
                  <a:srgbClr val="4B5563"/>
                </a:solidFill>
                <a:effectLst/>
                <a:latin typeface="Source Sans Pro" panose="020B0503030403020204" pitchFamily="34" charset="0"/>
              </a:rPr>
              <a:t>”: Return a single frame representing the current state of the environment. A frame is a </a:t>
            </a:r>
            <a:r>
              <a:rPr lang="en-GB" b="0" i="0" u="none" strike="noStrike" dirty="0" err="1">
                <a:solidFill>
                  <a:srgbClr val="4B5563"/>
                </a:solidFill>
                <a:effectLst/>
                <a:latin typeface="Source Sans Pro" panose="020B0503030403020204" pitchFamily="34" charset="0"/>
              </a:rPr>
              <a:t>np.ndarray</a:t>
            </a:r>
            <a:r>
              <a:rPr lang="en-GB" b="0" i="0" u="none" strike="noStrike" dirty="0">
                <a:solidFill>
                  <a:srgbClr val="4B5563"/>
                </a:solidFill>
                <a:effectLst/>
                <a:latin typeface="Source Sans Pro" panose="020B0503030403020204" pitchFamily="34" charset="0"/>
              </a:rPr>
              <a:t> with shape (x, y, 3) representing RGB values for an x-by-y pixel image.</a:t>
            </a:r>
          </a:p>
        </p:txBody>
      </p:sp>
      <p:pic>
        <p:nvPicPr>
          <p:cNvPr id="58" name="Picture 57">
            <a:extLst>
              <a:ext uri="{FF2B5EF4-FFF2-40B4-BE49-F238E27FC236}">
                <a16:creationId xmlns:a16="http://schemas.microsoft.com/office/drawing/2014/main" id="{0086510C-D8C5-9D3F-9077-88F577BA2033}"/>
              </a:ext>
            </a:extLst>
          </p:cNvPr>
          <p:cNvPicPr>
            <a:picLocks noChangeAspect="1"/>
          </p:cNvPicPr>
          <p:nvPr/>
        </p:nvPicPr>
        <p:blipFill>
          <a:blip r:embed="rId3"/>
          <a:stretch>
            <a:fillRect/>
          </a:stretch>
        </p:blipFill>
        <p:spPr>
          <a:xfrm>
            <a:off x="572845" y="3745078"/>
            <a:ext cx="7772400" cy="483725"/>
          </a:xfrm>
          <a:prstGeom prst="rect">
            <a:avLst/>
          </a:prstGeom>
        </p:spPr>
      </p:pic>
      <p:pic>
        <p:nvPicPr>
          <p:cNvPr id="59" name="Picture 58">
            <a:extLst>
              <a:ext uri="{FF2B5EF4-FFF2-40B4-BE49-F238E27FC236}">
                <a16:creationId xmlns:a16="http://schemas.microsoft.com/office/drawing/2014/main" id="{C0280FB4-5548-5F92-66F3-135D7E9DF757}"/>
              </a:ext>
            </a:extLst>
          </p:cNvPr>
          <p:cNvPicPr>
            <a:picLocks noChangeAspect="1"/>
          </p:cNvPicPr>
          <p:nvPr/>
        </p:nvPicPr>
        <p:blipFill>
          <a:blip r:embed="rId4"/>
          <a:stretch>
            <a:fillRect/>
          </a:stretch>
        </p:blipFill>
        <p:spPr>
          <a:xfrm>
            <a:off x="572845" y="4409196"/>
            <a:ext cx="7772400" cy="386264"/>
          </a:xfrm>
          <a:prstGeom prst="rect">
            <a:avLst/>
          </a:prstGeom>
        </p:spPr>
      </p:pic>
    </p:spTree>
    <p:extLst>
      <p:ext uri="{BB962C8B-B14F-4D97-AF65-F5344CB8AC3E}">
        <p14:creationId xmlns:p14="http://schemas.microsoft.com/office/powerpoint/2010/main" val="267998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5DDC-0AF5-A018-291E-6232C9810766}"/>
              </a:ext>
            </a:extLst>
          </p:cNvPr>
          <p:cNvSpPr>
            <a:spLocks noGrp="1"/>
          </p:cNvSpPr>
          <p:nvPr>
            <p:ph type="title"/>
          </p:nvPr>
        </p:nvSpPr>
        <p:spPr/>
        <p:txBody>
          <a:bodyPr>
            <a:normAutofit fontScale="90000"/>
          </a:bodyPr>
          <a:lstStyle/>
          <a:p>
            <a:r>
              <a:rPr lang="en-US" dirty="0"/>
              <a:t>What does the environment look like?</a:t>
            </a:r>
          </a:p>
        </p:txBody>
      </p:sp>
      <p:pic>
        <p:nvPicPr>
          <p:cNvPr id="14" name="Picture 13">
            <a:extLst>
              <a:ext uri="{FF2B5EF4-FFF2-40B4-BE49-F238E27FC236}">
                <a16:creationId xmlns:a16="http://schemas.microsoft.com/office/drawing/2014/main" id="{881AD334-D415-BEB9-5E4C-6F56EF668143}"/>
              </a:ext>
            </a:extLst>
          </p:cNvPr>
          <p:cNvPicPr>
            <a:picLocks noChangeAspect="1"/>
          </p:cNvPicPr>
          <p:nvPr/>
        </p:nvPicPr>
        <p:blipFill>
          <a:blip r:embed="rId2"/>
          <a:stretch>
            <a:fillRect/>
          </a:stretch>
        </p:blipFill>
        <p:spPr>
          <a:xfrm>
            <a:off x="685800" y="1765251"/>
            <a:ext cx="7772400" cy="1612998"/>
          </a:xfrm>
          <a:prstGeom prst="rect">
            <a:avLst/>
          </a:prstGeom>
        </p:spPr>
      </p:pic>
    </p:spTree>
    <p:extLst>
      <p:ext uri="{BB962C8B-B14F-4D97-AF65-F5344CB8AC3E}">
        <p14:creationId xmlns:p14="http://schemas.microsoft.com/office/powerpoint/2010/main" val="960155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7C76-B5C5-CC90-46B1-74C64ED87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B256B-A094-DE98-596F-2AA50D523C7E}"/>
              </a:ext>
            </a:extLst>
          </p:cNvPr>
          <p:cNvSpPr>
            <a:spLocks noGrp="1"/>
          </p:cNvSpPr>
          <p:nvPr>
            <p:ph type="title"/>
          </p:nvPr>
        </p:nvSpPr>
        <p:spPr/>
        <p:txBody>
          <a:bodyPr/>
          <a:lstStyle/>
          <a:p>
            <a:r>
              <a:rPr lang="en-US" dirty="0"/>
              <a:t>Environment</a:t>
            </a:r>
          </a:p>
        </p:txBody>
      </p:sp>
      <p:sp>
        <p:nvSpPr>
          <p:cNvPr id="13" name="TextBox 12">
            <a:extLst>
              <a:ext uri="{FF2B5EF4-FFF2-40B4-BE49-F238E27FC236}">
                <a16:creationId xmlns:a16="http://schemas.microsoft.com/office/drawing/2014/main" id="{52D75F49-D87A-55AC-00CA-68D50D4D6C92}"/>
              </a:ext>
            </a:extLst>
          </p:cNvPr>
          <p:cNvSpPr txBox="1"/>
          <p:nvPr/>
        </p:nvSpPr>
        <p:spPr>
          <a:xfrm>
            <a:off x="457199" y="1063229"/>
            <a:ext cx="7998311" cy="1754326"/>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We see with Observation Space Shape Discrete(16) that the observation is an integer representing the </a:t>
            </a:r>
            <a:r>
              <a:rPr lang="en-GB" b="1" i="0" u="none" strike="noStrike" dirty="0">
                <a:solidFill>
                  <a:srgbClr val="4B5563"/>
                </a:solidFill>
                <a:effectLst/>
                <a:latin typeface="Source Sans Pro" panose="020B0503030403020204" pitchFamily="34" charset="0"/>
              </a:rPr>
              <a:t>agent’s current position as </a:t>
            </a:r>
            <a:r>
              <a:rPr lang="en-GB" b="1" i="0" u="none" strike="noStrike" dirty="0" err="1">
                <a:solidFill>
                  <a:srgbClr val="4B5563"/>
                </a:solidFill>
                <a:effectLst/>
                <a:latin typeface="Source Sans Pro" panose="020B0503030403020204" pitchFamily="34" charset="0"/>
              </a:rPr>
              <a:t>current_row</a:t>
            </a:r>
            <a:r>
              <a:rPr lang="en-GB" b="1" i="0" u="none" strike="noStrike" dirty="0">
                <a:solidFill>
                  <a:srgbClr val="4B5563"/>
                </a:solidFill>
                <a:effectLst/>
                <a:latin typeface="Source Sans Pro" panose="020B0503030403020204" pitchFamily="34" charset="0"/>
              </a:rPr>
              <a:t> * </a:t>
            </a:r>
            <a:r>
              <a:rPr lang="en-GB" b="1" i="0" u="none" strike="noStrike" dirty="0" err="1">
                <a:solidFill>
                  <a:srgbClr val="4B5563"/>
                </a:solidFill>
                <a:effectLst/>
                <a:latin typeface="Source Sans Pro" panose="020B0503030403020204" pitchFamily="34" charset="0"/>
              </a:rPr>
              <a:t>ncols</a:t>
            </a:r>
            <a:r>
              <a:rPr lang="en-GB" b="1" i="0" u="none" strike="noStrike" dirty="0">
                <a:solidFill>
                  <a:srgbClr val="4B5563"/>
                </a:solidFill>
                <a:effectLst/>
                <a:latin typeface="Source Sans Pro" panose="020B0503030403020204" pitchFamily="34" charset="0"/>
              </a:rPr>
              <a:t> + </a:t>
            </a:r>
            <a:r>
              <a:rPr lang="en-GB" b="1" i="0" u="none" strike="noStrike" dirty="0" err="1">
                <a:solidFill>
                  <a:srgbClr val="4B5563"/>
                </a:solidFill>
                <a:effectLst/>
                <a:latin typeface="Source Sans Pro" panose="020B0503030403020204" pitchFamily="34" charset="0"/>
              </a:rPr>
              <a:t>current_col</a:t>
            </a:r>
            <a:r>
              <a:rPr lang="en-GB" b="1" i="0" u="none" strike="noStrike" dirty="0">
                <a:solidFill>
                  <a:srgbClr val="4B5563"/>
                </a:solidFill>
                <a:effectLst/>
                <a:latin typeface="Source Sans Pro" panose="020B0503030403020204" pitchFamily="34" charset="0"/>
              </a:rPr>
              <a:t> (where both the row and col start at 0)</a:t>
            </a:r>
            <a:r>
              <a:rPr lang="en-GB" b="0" i="0" u="none" strike="noStrike" dirty="0">
                <a:solidFill>
                  <a:srgbClr val="4B5563"/>
                </a:solidFill>
                <a:effectLst/>
                <a:latin typeface="Source Sans Pro" panose="020B0503030403020204" pitchFamily="34" charset="0"/>
              </a:rPr>
              <a:t>.</a:t>
            </a:r>
          </a:p>
          <a:p>
            <a:pPr algn="l"/>
            <a:r>
              <a:rPr lang="en-GB" b="0" i="0" u="none" strike="noStrike" dirty="0">
                <a:solidFill>
                  <a:srgbClr val="4B5563"/>
                </a:solidFill>
                <a:effectLst/>
                <a:latin typeface="Source Sans Pro" panose="020B0503030403020204" pitchFamily="34" charset="0"/>
              </a:rPr>
              <a:t>For example, the goal position in the 4x4 map can be calculated as follows: 3 * 4 + 3 = 15. The number of possible observations is dependent on the size of the map. </a:t>
            </a:r>
            <a:r>
              <a:rPr lang="en-GB" b="1" i="0" u="none" strike="noStrike" dirty="0">
                <a:solidFill>
                  <a:srgbClr val="4B5563"/>
                </a:solidFill>
                <a:effectLst/>
                <a:latin typeface="Source Sans Pro" panose="020B0503030403020204" pitchFamily="34" charset="0"/>
              </a:rPr>
              <a:t>For example, the 4x4 map has 16 possible observations.</a:t>
            </a:r>
            <a:endParaRPr lang="en-GB" b="0" i="0" u="none" strike="noStrike" dirty="0">
              <a:solidFill>
                <a:srgbClr val="4B5563"/>
              </a:solidFill>
              <a:effectLst/>
              <a:latin typeface="Source Sans Pro" panose="020B0503030403020204" pitchFamily="34" charset="0"/>
            </a:endParaRPr>
          </a:p>
        </p:txBody>
      </p:sp>
      <p:pic>
        <p:nvPicPr>
          <p:cNvPr id="20482" name="Picture 2" descr="FrozenLake">
            <a:extLst>
              <a:ext uri="{FF2B5EF4-FFF2-40B4-BE49-F238E27FC236}">
                <a16:creationId xmlns:a16="http://schemas.microsoft.com/office/drawing/2014/main" id="{994F7942-8A98-E6F5-5025-5C4A4AE26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714" y="2860993"/>
            <a:ext cx="2060091" cy="207652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DC11871-A7FA-4842-8DED-B4A15FF9D8A6}"/>
              </a:ext>
            </a:extLst>
          </p:cNvPr>
          <p:cNvSpPr txBox="1"/>
          <p:nvPr/>
        </p:nvSpPr>
        <p:spPr>
          <a:xfrm>
            <a:off x="306593" y="3490139"/>
            <a:ext cx="4572000" cy="369332"/>
          </a:xfrm>
          <a:prstGeom prst="rect">
            <a:avLst/>
          </a:prstGeom>
          <a:noFill/>
        </p:spPr>
        <p:txBody>
          <a:bodyPr wrap="square">
            <a:spAutoFit/>
          </a:bodyPr>
          <a:lstStyle/>
          <a:p>
            <a:r>
              <a:rPr lang="en-GB" b="0" i="0" u="none" strike="noStrike" dirty="0">
                <a:solidFill>
                  <a:srgbClr val="4B5563"/>
                </a:solidFill>
                <a:effectLst/>
                <a:latin typeface="Source Sans Pro" panose="020B0503030403020204" pitchFamily="34" charset="0"/>
              </a:rPr>
              <a:t>For instance, this is what state = 0 looks like:</a:t>
            </a:r>
            <a:endParaRPr lang="en-IE" dirty="0"/>
          </a:p>
        </p:txBody>
      </p:sp>
    </p:spTree>
    <p:extLst>
      <p:ext uri="{BB962C8B-B14F-4D97-AF65-F5344CB8AC3E}">
        <p14:creationId xmlns:p14="http://schemas.microsoft.com/office/powerpoint/2010/main" val="307135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E0BD7-45BD-EB23-FF0C-4AD419F65CBA}"/>
              </a:ext>
            </a:extLst>
          </p:cNvPr>
          <p:cNvSpPr>
            <a:spLocks noGrp="1"/>
          </p:cNvSpPr>
          <p:nvPr>
            <p:ph type="title"/>
          </p:nvPr>
        </p:nvSpPr>
        <p:spPr/>
        <p:txBody>
          <a:bodyPr>
            <a:normAutofit/>
          </a:bodyPr>
          <a:lstStyle/>
          <a:p>
            <a:r>
              <a:rPr lang="en-US" dirty="0"/>
              <a:t>Action Space</a:t>
            </a:r>
          </a:p>
        </p:txBody>
      </p:sp>
      <p:pic>
        <p:nvPicPr>
          <p:cNvPr id="13" name="Picture 12">
            <a:extLst>
              <a:ext uri="{FF2B5EF4-FFF2-40B4-BE49-F238E27FC236}">
                <a16:creationId xmlns:a16="http://schemas.microsoft.com/office/drawing/2014/main" id="{7960071E-5B8C-E116-528E-90C3DC8F2717}"/>
              </a:ext>
            </a:extLst>
          </p:cNvPr>
          <p:cNvPicPr>
            <a:picLocks noChangeAspect="1"/>
          </p:cNvPicPr>
          <p:nvPr/>
        </p:nvPicPr>
        <p:blipFill>
          <a:blip r:embed="rId2"/>
          <a:stretch>
            <a:fillRect/>
          </a:stretch>
        </p:blipFill>
        <p:spPr>
          <a:xfrm>
            <a:off x="685800" y="1063229"/>
            <a:ext cx="6747734" cy="1696152"/>
          </a:xfrm>
          <a:prstGeom prst="rect">
            <a:avLst/>
          </a:prstGeom>
        </p:spPr>
      </p:pic>
      <p:sp>
        <p:nvSpPr>
          <p:cNvPr id="17" name="TextBox 16">
            <a:extLst>
              <a:ext uri="{FF2B5EF4-FFF2-40B4-BE49-F238E27FC236}">
                <a16:creationId xmlns:a16="http://schemas.microsoft.com/office/drawing/2014/main" id="{E4A04146-B3EE-58F5-0EE9-3865F95EA42E}"/>
              </a:ext>
            </a:extLst>
          </p:cNvPr>
          <p:cNvSpPr txBox="1"/>
          <p:nvPr/>
        </p:nvSpPr>
        <p:spPr>
          <a:xfrm>
            <a:off x="457200" y="3016947"/>
            <a:ext cx="3867374" cy="2031325"/>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The action space (the set of possible actions the agent can take) is discrete with 4 actions available 🎮:</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0: GO LEFT</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1: GO DOWN</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2: GO RIGHT</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3: GO UP</a:t>
            </a:r>
          </a:p>
        </p:txBody>
      </p:sp>
      <p:sp>
        <p:nvSpPr>
          <p:cNvPr id="19" name="TextBox 18">
            <a:extLst>
              <a:ext uri="{FF2B5EF4-FFF2-40B4-BE49-F238E27FC236}">
                <a16:creationId xmlns:a16="http://schemas.microsoft.com/office/drawing/2014/main" id="{D79E00F0-BF1A-BDA5-2BB5-ECA3C2BEB8AA}"/>
              </a:ext>
            </a:extLst>
          </p:cNvPr>
          <p:cNvSpPr txBox="1"/>
          <p:nvPr/>
        </p:nvSpPr>
        <p:spPr>
          <a:xfrm>
            <a:off x="4572000" y="3208043"/>
            <a:ext cx="4572000" cy="1200329"/>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Reward function 💰:</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Reach goal: +1</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Reach hole: 0</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Reach frozen: 0</a:t>
            </a:r>
          </a:p>
        </p:txBody>
      </p:sp>
    </p:spTree>
    <p:extLst>
      <p:ext uri="{BB962C8B-B14F-4D97-AF65-F5344CB8AC3E}">
        <p14:creationId xmlns:p14="http://schemas.microsoft.com/office/powerpoint/2010/main" val="360172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469A-661E-21C6-4675-106163FD8BFB}"/>
              </a:ext>
            </a:extLst>
          </p:cNvPr>
          <p:cNvSpPr>
            <a:spLocks noGrp="1"/>
          </p:cNvSpPr>
          <p:nvPr>
            <p:ph type="title"/>
          </p:nvPr>
        </p:nvSpPr>
        <p:spPr/>
        <p:txBody>
          <a:bodyPr>
            <a:normAutofit/>
          </a:bodyPr>
          <a:lstStyle/>
          <a:p>
            <a:r>
              <a:rPr lang="en-GB" i="0" u="none" strike="noStrike" dirty="0">
                <a:effectLst/>
              </a:rPr>
              <a:t>Create and Initialize the Q-table 🗄️</a:t>
            </a:r>
            <a:endParaRPr lang="en-US" dirty="0"/>
          </a:p>
        </p:txBody>
      </p:sp>
      <p:sp>
        <p:nvSpPr>
          <p:cNvPr id="18" name="TextBox 17">
            <a:extLst>
              <a:ext uri="{FF2B5EF4-FFF2-40B4-BE49-F238E27FC236}">
                <a16:creationId xmlns:a16="http://schemas.microsoft.com/office/drawing/2014/main" id="{3CD5E9E4-B895-1E28-E82A-4E8E32926358}"/>
              </a:ext>
            </a:extLst>
          </p:cNvPr>
          <p:cNvSpPr txBox="1"/>
          <p:nvPr/>
        </p:nvSpPr>
        <p:spPr>
          <a:xfrm>
            <a:off x="457200" y="1139916"/>
            <a:ext cx="8229600" cy="1477328"/>
          </a:xfrm>
          <a:prstGeom prst="rect">
            <a:avLst/>
          </a:prstGeom>
          <a:noFill/>
        </p:spPr>
        <p:txBody>
          <a:bodyPr wrap="square">
            <a:spAutoFit/>
          </a:bodyPr>
          <a:lstStyle/>
          <a:p>
            <a:r>
              <a:rPr lang="en-GB" b="0" i="0" u="none" strike="noStrike" dirty="0">
                <a:solidFill>
                  <a:srgbClr val="4B5563"/>
                </a:solidFill>
                <a:effectLst/>
                <a:latin typeface="Source Sans Pro" panose="020B0503030403020204" pitchFamily="34" charset="0"/>
              </a:rPr>
              <a:t>It’s time to initialize our Q-table! To know how many rows (states) and columns (actions) to use, we need to know the action and observation space. We already know their values from before, but we’ll want to obtain them programmatically so that our algorithm generalizes for different environments. Gym provides us a way to do that: </a:t>
            </a:r>
            <a:r>
              <a:rPr lang="en-GB" dirty="0" err="1"/>
              <a:t>env.action_space.n</a:t>
            </a:r>
            <a:r>
              <a:rPr lang="en-GB" b="0" i="0" u="none" strike="noStrike" dirty="0">
                <a:solidFill>
                  <a:srgbClr val="4B5563"/>
                </a:solidFill>
                <a:effectLst/>
                <a:latin typeface="Source Sans Pro" panose="020B0503030403020204" pitchFamily="34" charset="0"/>
              </a:rPr>
              <a:t> and </a:t>
            </a:r>
            <a:r>
              <a:rPr lang="en-GB" dirty="0" err="1"/>
              <a:t>env.observation_space.n</a:t>
            </a:r>
            <a:endParaRPr lang="en-IE" dirty="0"/>
          </a:p>
        </p:txBody>
      </p:sp>
      <p:pic>
        <p:nvPicPr>
          <p:cNvPr id="19" name="Picture 18">
            <a:extLst>
              <a:ext uri="{FF2B5EF4-FFF2-40B4-BE49-F238E27FC236}">
                <a16:creationId xmlns:a16="http://schemas.microsoft.com/office/drawing/2014/main" id="{A16157F6-DF60-24EF-B0C2-E54EE8F5E88A}"/>
              </a:ext>
            </a:extLst>
          </p:cNvPr>
          <p:cNvPicPr>
            <a:picLocks noChangeAspect="1"/>
          </p:cNvPicPr>
          <p:nvPr/>
        </p:nvPicPr>
        <p:blipFill>
          <a:blip r:embed="rId2"/>
          <a:stretch>
            <a:fillRect/>
          </a:stretch>
        </p:blipFill>
        <p:spPr>
          <a:xfrm>
            <a:off x="1301675" y="2750111"/>
            <a:ext cx="6166822" cy="2159251"/>
          </a:xfrm>
          <a:prstGeom prst="rect">
            <a:avLst/>
          </a:prstGeom>
        </p:spPr>
      </p:pic>
    </p:spTree>
    <p:extLst>
      <p:ext uri="{BB962C8B-B14F-4D97-AF65-F5344CB8AC3E}">
        <p14:creationId xmlns:p14="http://schemas.microsoft.com/office/powerpoint/2010/main" val="406364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458B-CF3C-21EA-9827-E683FE5726DE}"/>
              </a:ext>
            </a:extLst>
          </p:cNvPr>
          <p:cNvSpPr>
            <a:spLocks noGrp="1"/>
          </p:cNvSpPr>
          <p:nvPr>
            <p:ph type="title"/>
          </p:nvPr>
        </p:nvSpPr>
        <p:spPr>
          <a:xfrm>
            <a:off x="349624" y="232874"/>
            <a:ext cx="8686800" cy="857250"/>
          </a:xfrm>
        </p:spPr>
        <p:txBody>
          <a:bodyPr>
            <a:normAutofit/>
          </a:bodyPr>
          <a:lstStyle/>
          <a:p>
            <a:r>
              <a:rPr lang="en-GB" i="0" u="none" strike="noStrike" dirty="0">
                <a:effectLst/>
              </a:rPr>
              <a:t>Solution</a:t>
            </a:r>
          </a:p>
        </p:txBody>
      </p:sp>
      <p:pic>
        <p:nvPicPr>
          <p:cNvPr id="17" name="Picture 16">
            <a:extLst>
              <a:ext uri="{FF2B5EF4-FFF2-40B4-BE49-F238E27FC236}">
                <a16:creationId xmlns:a16="http://schemas.microsoft.com/office/drawing/2014/main" id="{C419BEF0-F6BB-C665-2C77-71A55B0565F1}"/>
              </a:ext>
            </a:extLst>
          </p:cNvPr>
          <p:cNvPicPr>
            <a:picLocks noChangeAspect="1"/>
          </p:cNvPicPr>
          <p:nvPr/>
        </p:nvPicPr>
        <p:blipFill>
          <a:blip r:embed="rId2"/>
          <a:stretch>
            <a:fillRect/>
          </a:stretch>
        </p:blipFill>
        <p:spPr>
          <a:xfrm>
            <a:off x="1515483" y="1412862"/>
            <a:ext cx="6113033" cy="3240404"/>
          </a:xfrm>
          <a:prstGeom prst="rect">
            <a:avLst/>
          </a:prstGeom>
        </p:spPr>
      </p:pic>
    </p:spTree>
    <p:extLst>
      <p:ext uri="{BB962C8B-B14F-4D97-AF65-F5344CB8AC3E}">
        <p14:creationId xmlns:p14="http://schemas.microsoft.com/office/powerpoint/2010/main" val="4135428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F6AF-9BAE-0656-5094-F7D03DF9167D}"/>
              </a:ext>
            </a:extLst>
          </p:cNvPr>
          <p:cNvSpPr>
            <a:spLocks noGrp="1"/>
          </p:cNvSpPr>
          <p:nvPr>
            <p:ph type="title"/>
          </p:nvPr>
        </p:nvSpPr>
        <p:spPr/>
        <p:txBody>
          <a:bodyPr/>
          <a:lstStyle/>
          <a:p>
            <a:r>
              <a:rPr lang="en-GB" i="0" u="none" strike="noStrike" dirty="0">
                <a:effectLst/>
              </a:rPr>
              <a:t>Define the greedy policy 🤖</a:t>
            </a:r>
          </a:p>
        </p:txBody>
      </p:sp>
      <p:sp>
        <p:nvSpPr>
          <p:cNvPr id="11" name="TextBox 10">
            <a:extLst>
              <a:ext uri="{FF2B5EF4-FFF2-40B4-BE49-F238E27FC236}">
                <a16:creationId xmlns:a16="http://schemas.microsoft.com/office/drawing/2014/main" id="{A0A66E98-132F-BE3E-CE72-D04304B9C77C}"/>
              </a:ext>
            </a:extLst>
          </p:cNvPr>
          <p:cNvSpPr txBox="1"/>
          <p:nvPr/>
        </p:nvSpPr>
        <p:spPr>
          <a:xfrm>
            <a:off x="457200" y="1139916"/>
            <a:ext cx="8229600" cy="2308324"/>
          </a:xfrm>
          <a:prstGeom prst="rect">
            <a:avLst/>
          </a:prstGeom>
          <a:noFill/>
        </p:spPr>
        <p:txBody>
          <a:bodyPr wrap="square">
            <a:spAutoFit/>
          </a:bodyPr>
          <a:lstStyle/>
          <a:p>
            <a:pPr algn="l"/>
            <a:r>
              <a:rPr lang="en-GB" dirty="0">
                <a:solidFill>
                  <a:srgbClr val="4B5563"/>
                </a:solidFill>
                <a:latin typeface="Source Sans Pro" panose="020B0503030403020204" pitchFamily="34" charset="0"/>
              </a:rPr>
              <a:t>W</a:t>
            </a:r>
            <a:r>
              <a:rPr lang="en-GB" b="0" i="0" u="none" strike="noStrike" dirty="0">
                <a:solidFill>
                  <a:srgbClr val="4B5563"/>
                </a:solidFill>
                <a:effectLst/>
                <a:latin typeface="Source Sans Pro" panose="020B0503030403020204" pitchFamily="34" charset="0"/>
              </a:rPr>
              <a:t>e have two policies since Q-Learning is an </a:t>
            </a:r>
            <a:r>
              <a:rPr lang="en-GB" b="1" i="0" u="none" strike="noStrike" dirty="0">
                <a:solidFill>
                  <a:srgbClr val="4B5563"/>
                </a:solidFill>
                <a:effectLst/>
                <a:latin typeface="Source Sans Pro" panose="020B0503030403020204" pitchFamily="34" charset="0"/>
              </a:rPr>
              <a:t>off-policy</a:t>
            </a:r>
            <a:r>
              <a:rPr lang="en-GB" b="0" i="0" u="none" strike="noStrike" dirty="0">
                <a:solidFill>
                  <a:srgbClr val="4B5563"/>
                </a:solidFill>
                <a:effectLst/>
                <a:latin typeface="Source Sans Pro" panose="020B0503030403020204" pitchFamily="34" charset="0"/>
              </a:rPr>
              <a:t> algorithm. This means we’re using a </a:t>
            </a:r>
            <a:r>
              <a:rPr lang="en-GB" b="1" i="0" u="none" strike="noStrike" dirty="0">
                <a:solidFill>
                  <a:srgbClr val="4B5563"/>
                </a:solidFill>
                <a:effectLst/>
                <a:latin typeface="Source Sans Pro" panose="020B0503030403020204" pitchFamily="34" charset="0"/>
              </a:rPr>
              <a:t>different policy for acting and updating the value function</a:t>
            </a:r>
            <a:r>
              <a:rPr lang="en-GB" b="0" i="0" u="none" strike="noStrike" dirty="0">
                <a:solidFill>
                  <a:srgbClr val="4B5563"/>
                </a:solidFill>
                <a:effectLst/>
                <a:latin typeface="Source Sans Pro" panose="020B0503030403020204" pitchFamily="34" charset="0"/>
              </a:rPr>
              <a:t>.</a:t>
            </a:r>
          </a:p>
          <a:p>
            <a:pPr algn="l"/>
            <a:endParaRPr lang="en-GB" b="0" i="0" u="none" strike="noStrike" dirty="0">
              <a:solidFill>
                <a:srgbClr val="4B5563"/>
              </a:solidFill>
              <a:effectLst/>
              <a:latin typeface="Source Sans Pro" panose="020B0503030403020204" pitchFamily="34" charset="0"/>
            </a:endParaRP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Epsilon-greedy policy (acting policy)</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Greedy-policy (updating policy)</a:t>
            </a:r>
          </a:p>
          <a:p>
            <a:pPr marL="285750" indent="-285750" algn="l">
              <a:buFont typeface="Arial" panose="020B0604020202020204" pitchFamily="34" charset="0"/>
              <a:buChar char="•"/>
            </a:pPr>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The greedy policy will also be the final policy we’ll have when the Q-learning agent completes training. The greedy policy is used to select an action using the Q-table.</a:t>
            </a:r>
          </a:p>
        </p:txBody>
      </p:sp>
      <p:pic>
        <p:nvPicPr>
          <p:cNvPr id="12" name="Picture 11">
            <a:extLst>
              <a:ext uri="{FF2B5EF4-FFF2-40B4-BE49-F238E27FC236}">
                <a16:creationId xmlns:a16="http://schemas.microsoft.com/office/drawing/2014/main" id="{DB6CAA14-5F65-8DFE-54A3-DADFFCF1E69A}"/>
              </a:ext>
            </a:extLst>
          </p:cNvPr>
          <p:cNvPicPr>
            <a:picLocks noChangeAspect="1"/>
          </p:cNvPicPr>
          <p:nvPr/>
        </p:nvPicPr>
        <p:blipFill>
          <a:blip r:embed="rId2"/>
          <a:stretch>
            <a:fillRect/>
          </a:stretch>
        </p:blipFill>
        <p:spPr>
          <a:xfrm>
            <a:off x="761103" y="3613936"/>
            <a:ext cx="6489551" cy="1156356"/>
          </a:xfrm>
          <a:prstGeom prst="rect">
            <a:avLst/>
          </a:prstGeom>
        </p:spPr>
      </p:pic>
    </p:spTree>
    <p:extLst>
      <p:ext uri="{BB962C8B-B14F-4D97-AF65-F5344CB8AC3E}">
        <p14:creationId xmlns:p14="http://schemas.microsoft.com/office/powerpoint/2010/main" val="3863451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D909-2142-5C09-A64C-A26F5E49BE4B}"/>
              </a:ext>
            </a:extLst>
          </p:cNvPr>
          <p:cNvSpPr>
            <a:spLocks noGrp="1"/>
          </p:cNvSpPr>
          <p:nvPr>
            <p:ph type="title"/>
          </p:nvPr>
        </p:nvSpPr>
        <p:spPr/>
        <p:txBody>
          <a:bodyPr/>
          <a:lstStyle/>
          <a:p>
            <a:r>
              <a:rPr lang="en-US" dirty="0"/>
              <a:t>Solution</a:t>
            </a:r>
          </a:p>
        </p:txBody>
      </p:sp>
      <p:pic>
        <p:nvPicPr>
          <p:cNvPr id="13" name="Picture 12">
            <a:extLst>
              <a:ext uri="{FF2B5EF4-FFF2-40B4-BE49-F238E27FC236}">
                <a16:creationId xmlns:a16="http://schemas.microsoft.com/office/drawing/2014/main" id="{D8E5FCDA-3F11-DAC5-2E33-D5E5630F7910}"/>
              </a:ext>
            </a:extLst>
          </p:cNvPr>
          <p:cNvPicPr>
            <a:picLocks noChangeAspect="1"/>
          </p:cNvPicPr>
          <p:nvPr/>
        </p:nvPicPr>
        <p:blipFill>
          <a:blip r:embed="rId2"/>
          <a:stretch>
            <a:fillRect/>
          </a:stretch>
        </p:blipFill>
        <p:spPr>
          <a:xfrm>
            <a:off x="685800" y="1887315"/>
            <a:ext cx="7772400" cy="1368870"/>
          </a:xfrm>
          <a:prstGeom prst="rect">
            <a:avLst/>
          </a:prstGeom>
        </p:spPr>
      </p:pic>
    </p:spTree>
    <p:extLst>
      <p:ext uri="{BB962C8B-B14F-4D97-AF65-F5344CB8AC3E}">
        <p14:creationId xmlns:p14="http://schemas.microsoft.com/office/powerpoint/2010/main" val="3462452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1AF74-11DF-92BC-1BCF-92B41A20A809}"/>
              </a:ext>
            </a:extLst>
          </p:cNvPr>
          <p:cNvSpPr>
            <a:spLocks noGrp="1"/>
          </p:cNvSpPr>
          <p:nvPr>
            <p:ph type="title"/>
          </p:nvPr>
        </p:nvSpPr>
        <p:spPr/>
        <p:txBody>
          <a:bodyPr>
            <a:normAutofit/>
          </a:bodyPr>
          <a:lstStyle/>
          <a:p>
            <a:r>
              <a:rPr lang="en-GB" i="0" u="none" strike="noStrike" dirty="0">
                <a:effectLst/>
              </a:rPr>
              <a:t>Define the epsilon-greedy policy 🤖</a:t>
            </a:r>
          </a:p>
        </p:txBody>
      </p:sp>
      <p:sp>
        <p:nvSpPr>
          <p:cNvPr id="13" name="TextBox 12">
            <a:extLst>
              <a:ext uri="{FF2B5EF4-FFF2-40B4-BE49-F238E27FC236}">
                <a16:creationId xmlns:a16="http://schemas.microsoft.com/office/drawing/2014/main" id="{5FDBE623-4D5A-787A-6B32-1CDD88F577DE}"/>
              </a:ext>
            </a:extLst>
          </p:cNvPr>
          <p:cNvSpPr txBox="1"/>
          <p:nvPr/>
        </p:nvSpPr>
        <p:spPr>
          <a:xfrm>
            <a:off x="554018" y="1063229"/>
            <a:ext cx="8132782" cy="2862322"/>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Epsilon-greedy is the training policy that handles the exploration/exploitation trade-off.</a:t>
            </a:r>
          </a:p>
          <a:p>
            <a:pPr algn="l"/>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The idea with epsilon-greedy:</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With </a:t>
            </a:r>
            <a:r>
              <a:rPr lang="en-GB" b="0" i="1" u="none" strike="noStrike" dirty="0">
                <a:solidFill>
                  <a:srgbClr val="4B5563"/>
                </a:solidFill>
                <a:effectLst/>
                <a:latin typeface="Source Sans Pro" panose="020B0503030403020204" pitchFamily="34" charset="0"/>
              </a:rPr>
              <a:t>probability 1 -</a:t>
            </a:r>
            <a:r>
              <a:rPr lang="en-GB" b="0" u="none" strike="noStrike" dirty="0">
                <a:solidFill>
                  <a:srgbClr val="4B5563"/>
                </a:solidFill>
                <a:effectLst/>
                <a:latin typeface="Source Sans Pro" panose="020B0503030403020204" pitchFamily="34" charset="0"/>
              </a:rPr>
              <a:t> </a:t>
            </a:r>
            <a:r>
              <a:rPr lang="el-GR" i="1" u="none" strike="noStrike" dirty="0">
                <a:effectLst/>
                <a:latin typeface="Google Sans"/>
              </a:rPr>
              <a:t>ε</a:t>
            </a:r>
            <a:r>
              <a:rPr lang="en-GB" b="0" i="0" u="none" strike="noStrike" dirty="0">
                <a:solidFill>
                  <a:srgbClr val="4B5563"/>
                </a:solidFill>
                <a:effectLst/>
                <a:latin typeface="Source Sans Pro" panose="020B0503030403020204" pitchFamily="34" charset="0"/>
              </a:rPr>
              <a:t> : </a:t>
            </a:r>
            <a:r>
              <a:rPr lang="en-GB" b="1" i="0" u="none" strike="noStrike" dirty="0">
                <a:solidFill>
                  <a:srgbClr val="4B5563"/>
                </a:solidFill>
                <a:effectLst/>
                <a:latin typeface="Source Sans Pro" panose="020B0503030403020204" pitchFamily="34" charset="0"/>
              </a:rPr>
              <a:t>we do exploitation</a:t>
            </a:r>
            <a:r>
              <a:rPr lang="en-GB" b="0" i="0" u="none" strike="noStrike" dirty="0">
                <a:solidFill>
                  <a:srgbClr val="4B5563"/>
                </a:solidFill>
                <a:effectLst/>
                <a:latin typeface="Source Sans Pro" panose="020B0503030403020204" pitchFamily="34" charset="0"/>
              </a:rPr>
              <a:t> (i.e. our agent selects the action with the highest state-action pair value).</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With </a:t>
            </a:r>
            <a:r>
              <a:rPr lang="en-GB" b="0" i="1" u="none" strike="noStrike" dirty="0">
                <a:solidFill>
                  <a:srgbClr val="4B5563"/>
                </a:solidFill>
                <a:effectLst/>
                <a:latin typeface="Source Sans Pro" panose="020B0503030403020204" pitchFamily="34" charset="0"/>
              </a:rPr>
              <a:t>probability </a:t>
            </a:r>
            <a:r>
              <a:rPr lang="el-GR" i="1" u="none" strike="noStrike" dirty="0">
                <a:effectLst/>
                <a:latin typeface="Google Sans"/>
              </a:rPr>
              <a:t>ε</a:t>
            </a:r>
            <a:r>
              <a:rPr lang="en-GB" b="0" i="0" u="none" strike="noStrike" dirty="0">
                <a:solidFill>
                  <a:srgbClr val="4B5563"/>
                </a:solidFill>
                <a:effectLst/>
                <a:latin typeface="Source Sans Pro" panose="020B0503030403020204" pitchFamily="34" charset="0"/>
              </a:rPr>
              <a:t>: we do </a:t>
            </a:r>
            <a:r>
              <a:rPr lang="en-GB" b="1" i="0" u="none" strike="noStrike" dirty="0">
                <a:solidFill>
                  <a:srgbClr val="4B5563"/>
                </a:solidFill>
                <a:effectLst/>
                <a:latin typeface="Source Sans Pro" panose="020B0503030403020204" pitchFamily="34" charset="0"/>
              </a:rPr>
              <a:t>exploration</a:t>
            </a:r>
            <a:r>
              <a:rPr lang="en-GB" b="0" i="0" u="none" strike="noStrike" dirty="0">
                <a:solidFill>
                  <a:srgbClr val="4B5563"/>
                </a:solidFill>
                <a:effectLst/>
                <a:latin typeface="Source Sans Pro" panose="020B0503030403020204" pitchFamily="34" charset="0"/>
              </a:rPr>
              <a:t> (trying a random action).</a:t>
            </a:r>
          </a:p>
          <a:p>
            <a:pPr algn="l">
              <a:buFont typeface="Arial" panose="020B0604020202020204" pitchFamily="34" charset="0"/>
              <a:buChar char="•"/>
            </a:pPr>
            <a:endParaRPr lang="en-GB" b="0" i="0" u="none" strike="noStrike" dirty="0">
              <a:solidFill>
                <a:srgbClr val="4B5563"/>
              </a:solidFill>
              <a:effectLst/>
              <a:latin typeface="Source Sans Pro" panose="020B0503030403020204" pitchFamily="34" charset="0"/>
            </a:endParaRPr>
          </a:p>
          <a:p>
            <a:pPr algn="l"/>
            <a:r>
              <a:rPr lang="en-GB" b="0" i="0" u="none" strike="noStrike" dirty="0">
                <a:solidFill>
                  <a:srgbClr val="4B5563"/>
                </a:solidFill>
                <a:effectLst/>
                <a:latin typeface="Source Sans Pro" panose="020B0503030403020204" pitchFamily="34" charset="0"/>
              </a:rPr>
              <a:t>As the training continues, we progressively </a:t>
            </a:r>
            <a:r>
              <a:rPr lang="en-GB" b="1" i="0" u="none" strike="noStrike" dirty="0">
                <a:solidFill>
                  <a:srgbClr val="4B5563"/>
                </a:solidFill>
                <a:effectLst/>
                <a:latin typeface="Source Sans Pro" panose="020B0503030403020204" pitchFamily="34" charset="0"/>
              </a:rPr>
              <a:t>reduce the epsilon value since we will need less and less exploration and more exploitation.</a:t>
            </a:r>
            <a:endParaRPr lang="en-GB" b="0" i="0" u="none" strike="noStrike" dirty="0">
              <a:solidFill>
                <a:srgbClr val="4B5563"/>
              </a:solidFill>
              <a:effectLst/>
              <a:latin typeface="Source Sans Pro" panose="020B0503030403020204" pitchFamily="34" charset="0"/>
            </a:endParaRPr>
          </a:p>
        </p:txBody>
      </p:sp>
    </p:spTree>
    <p:extLst>
      <p:ext uri="{BB962C8B-B14F-4D97-AF65-F5344CB8AC3E}">
        <p14:creationId xmlns:p14="http://schemas.microsoft.com/office/powerpoint/2010/main" val="624408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0996D-ED65-D6B7-8E5A-0795013B7C14}"/>
              </a:ext>
            </a:extLst>
          </p:cNvPr>
          <p:cNvSpPr>
            <a:spLocks noGrp="1"/>
          </p:cNvSpPr>
          <p:nvPr>
            <p:ph type="title"/>
          </p:nvPr>
        </p:nvSpPr>
        <p:spPr/>
        <p:txBody>
          <a:bodyPr/>
          <a:lstStyle/>
          <a:p>
            <a:r>
              <a:rPr lang="en-IE" i="0" u="none" strike="noStrike" dirty="0">
                <a:effectLst/>
              </a:rPr>
              <a:t>Vectorized Environment</a:t>
            </a:r>
            <a:endParaRPr lang="en-IE" dirty="0"/>
          </a:p>
        </p:txBody>
      </p:sp>
      <p:pic>
        <p:nvPicPr>
          <p:cNvPr id="21506" name="Picture 2" descr="Q-Learning">
            <a:extLst>
              <a:ext uri="{FF2B5EF4-FFF2-40B4-BE49-F238E27FC236}">
                <a16:creationId xmlns:a16="http://schemas.microsoft.com/office/drawing/2014/main" id="{29545E06-990A-9162-FEA5-2815046658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301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9E719-5F32-574F-E52F-AA094743D318}"/>
              </a:ext>
            </a:extLst>
          </p:cNvPr>
          <p:cNvSpPr>
            <a:spLocks noGrp="1"/>
          </p:cNvSpPr>
          <p:nvPr>
            <p:ph type="title"/>
          </p:nvPr>
        </p:nvSpPr>
        <p:spPr/>
        <p:txBody>
          <a:bodyPr/>
          <a:lstStyle/>
          <a:p>
            <a:r>
              <a:rPr lang="en-IE" dirty="0"/>
              <a:t>Task</a:t>
            </a:r>
          </a:p>
        </p:txBody>
      </p:sp>
      <p:pic>
        <p:nvPicPr>
          <p:cNvPr id="12" name="Picture 11">
            <a:extLst>
              <a:ext uri="{FF2B5EF4-FFF2-40B4-BE49-F238E27FC236}">
                <a16:creationId xmlns:a16="http://schemas.microsoft.com/office/drawing/2014/main" id="{7B586332-7660-86D3-4023-94EBBFA0EC06}"/>
              </a:ext>
            </a:extLst>
          </p:cNvPr>
          <p:cNvPicPr>
            <a:picLocks noChangeAspect="1"/>
          </p:cNvPicPr>
          <p:nvPr/>
        </p:nvPicPr>
        <p:blipFill>
          <a:blip r:embed="rId2"/>
          <a:stretch>
            <a:fillRect/>
          </a:stretch>
        </p:blipFill>
        <p:spPr>
          <a:xfrm>
            <a:off x="1041400" y="1154056"/>
            <a:ext cx="7061200" cy="3416300"/>
          </a:xfrm>
          <a:prstGeom prst="rect">
            <a:avLst/>
          </a:prstGeom>
        </p:spPr>
      </p:pic>
    </p:spTree>
    <p:extLst>
      <p:ext uri="{BB962C8B-B14F-4D97-AF65-F5344CB8AC3E}">
        <p14:creationId xmlns:p14="http://schemas.microsoft.com/office/powerpoint/2010/main" val="3682956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4671-1265-9988-94D4-231612A904AF}"/>
              </a:ext>
            </a:extLst>
          </p:cNvPr>
          <p:cNvSpPr>
            <a:spLocks noGrp="1"/>
          </p:cNvSpPr>
          <p:nvPr>
            <p:ph type="title"/>
          </p:nvPr>
        </p:nvSpPr>
        <p:spPr/>
        <p:txBody>
          <a:bodyPr/>
          <a:lstStyle/>
          <a:p>
            <a:r>
              <a:rPr lang="en-IE" dirty="0"/>
              <a:t>Solution</a:t>
            </a:r>
          </a:p>
        </p:txBody>
      </p:sp>
      <p:pic>
        <p:nvPicPr>
          <p:cNvPr id="12" name="Picture 11">
            <a:extLst>
              <a:ext uri="{FF2B5EF4-FFF2-40B4-BE49-F238E27FC236}">
                <a16:creationId xmlns:a16="http://schemas.microsoft.com/office/drawing/2014/main" id="{3548D455-5746-095B-A9A7-61665E4ADA44}"/>
              </a:ext>
            </a:extLst>
          </p:cNvPr>
          <p:cNvPicPr>
            <a:picLocks noChangeAspect="1"/>
          </p:cNvPicPr>
          <p:nvPr/>
        </p:nvPicPr>
        <p:blipFill>
          <a:blip r:embed="rId2"/>
          <a:stretch>
            <a:fillRect/>
          </a:stretch>
        </p:blipFill>
        <p:spPr>
          <a:xfrm>
            <a:off x="889000" y="1236233"/>
            <a:ext cx="7366000" cy="3467100"/>
          </a:xfrm>
          <a:prstGeom prst="rect">
            <a:avLst/>
          </a:prstGeom>
        </p:spPr>
      </p:pic>
    </p:spTree>
    <p:extLst>
      <p:ext uri="{BB962C8B-B14F-4D97-AF65-F5344CB8AC3E}">
        <p14:creationId xmlns:p14="http://schemas.microsoft.com/office/powerpoint/2010/main" val="3922336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D8A37-8F0D-7FA5-8947-BDA8F7C00CC6}"/>
              </a:ext>
            </a:extLst>
          </p:cNvPr>
          <p:cNvSpPr>
            <a:spLocks noGrp="1"/>
          </p:cNvSpPr>
          <p:nvPr>
            <p:ph type="title"/>
          </p:nvPr>
        </p:nvSpPr>
        <p:spPr/>
        <p:txBody>
          <a:bodyPr/>
          <a:lstStyle/>
          <a:p>
            <a:r>
              <a:rPr lang="en-GB" i="0" u="none" strike="noStrike" dirty="0">
                <a:effectLst/>
              </a:rPr>
              <a:t>Define the hyperparameters ⚙️</a:t>
            </a:r>
          </a:p>
        </p:txBody>
      </p:sp>
      <p:sp>
        <p:nvSpPr>
          <p:cNvPr id="13" name="TextBox 12">
            <a:extLst>
              <a:ext uri="{FF2B5EF4-FFF2-40B4-BE49-F238E27FC236}">
                <a16:creationId xmlns:a16="http://schemas.microsoft.com/office/drawing/2014/main" id="{610D59FF-BC8E-9721-8060-E37D83257B38}"/>
              </a:ext>
            </a:extLst>
          </p:cNvPr>
          <p:cNvSpPr txBox="1"/>
          <p:nvPr/>
        </p:nvSpPr>
        <p:spPr>
          <a:xfrm>
            <a:off x="640080" y="1224594"/>
            <a:ext cx="8046720" cy="2308324"/>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The exploration related </a:t>
            </a:r>
            <a:r>
              <a:rPr lang="en-GB" b="0" i="0" u="none" strike="noStrike" dirty="0" err="1">
                <a:solidFill>
                  <a:srgbClr val="4B5563"/>
                </a:solidFill>
                <a:effectLst/>
                <a:latin typeface="Source Sans Pro" panose="020B0503030403020204" pitchFamily="34" charset="0"/>
              </a:rPr>
              <a:t>hyperparamters</a:t>
            </a:r>
            <a:r>
              <a:rPr lang="en-GB" b="0" i="0" u="none" strike="noStrike" dirty="0">
                <a:solidFill>
                  <a:srgbClr val="4B5563"/>
                </a:solidFill>
                <a:effectLst/>
                <a:latin typeface="Source Sans Pro" panose="020B0503030403020204" pitchFamily="34" charset="0"/>
              </a:rPr>
              <a:t> are some of the most important ones.</a:t>
            </a:r>
          </a:p>
          <a:p>
            <a:pPr algn="l"/>
            <a:endParaRPr lang="en-GB" b="0" i="0" u="none" strike="noStrike" dirty="0">
              <a:solidFill>
                <a:srgbClr val="4B5563"/>
              </a:solidFill>
              <a:effectLst/>
              <a:latin typeface="Source Sans Pro" panose="020B0503030403020204" pitchFamily="34" charset="0"/>
            </a:endParaRP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We need to make sure that our agent </a:t>
            </a:r>
            <a:r>
              <a:rPr lang="en-GB" b="1" i="0" u="none" strike="noStrike" dirty="0">
                <a:solidFill>
                  <a:srgbClr val="4B5563"/>
                </a:solidFill>
                <a:effectLst/>
                <a:latin typeface="Source Sans Pro" panose="020B0503030403020204" pitchFamily="34" charset="0"/>
              </a:rPr>
              <a:t>explores enough of the state space</a:t>
            </a:r>
            <a:r>
              <a:rPr lang="en-GB" b="0" i="0" u="none" strike="noStrike" dirty="0">
                <a:solidFill>
                  <a:srgbClr val="4B5563"/>
                </a:solidFill>
                <a:effectLst/>
                <a:latin typeface="Source Sans Pro" panose="020B0503030403020204" pitchFamily="34" charset="0"/>
              </a:rPr>
              <a:t> to learn a good value approximation. To do that, we need to have progressive decay of the epsilon.</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If you decrease epsilon too fast (too high </a:t>
            </a:r>
            <a:r>
              <a:rPr lang="en-GB" b="0" i="0" u="none" strike="noStrike" dirty="0" err="1">
                <a:solidFill>
                  <a:srgbClr val="4B5563"/>
                </a:solidFill>
                <a:effectLst/>
                <a:latin typeface="Source Sans Pro" panose="020B0503030403020204" pitchFamily="34" charset="0"/>
              </a:rPr>
              <a:t>decay_rate</a:t>
            </a:r>
            <a:r>
              <a:rPr lang="en-GB" b="0" i="0" u="none" strike="noStrike" dirty="0">
                <a:solidFill>
                  <a:srgbClr val="4B5563"/>
                </a:solidFill>
                <a:effectLst/>
                <a:latin typeface="Source Sans Pro" panose="020B0503030403020204" pitchFamily="34" charset="0"/>
              </a:rPr>
              <a:t>), </a:t>
            </a:r>
            <a:r>
              <a:rPr lang="en-GB" b="1" i="0" u="none" strike="noStrike" dirty="0">
                <a:solidFill>
                  <a:srgbClr val="4B5563"/>
                </a:solidFill>
                <a:effectLst/>
                <a:latin typeface="Source Sans Pro" panose="020B0503030403020204" pitchFamily="34" charset="0"/>
              </a:rPr>
              <a:t>you take the risk that your agent will be stuck</a:t>
            </a:r>
            <a:r>
              <a:rPr lang="en-GB" b="0" i="0" u="none" strike="noStrike" dirty="0">
                <a:solidFill>
                  <a:srgbClr val="4B5563"/>
                </a:solidFill>
                <a:effectLst/>
                <a:latin typeface="Source Sans Pro" panose="020B0503030403020204" pitchFamily="34" charset="0"/>
              </a:rPr>
              <a:t>, since your agent didn’t explore enough of the state space and hence can’t solve the problem.</a:t>
            </a:r>
          </a:p>
        </p:txBody>
      </p:sp>
    </p:spTree>
    <p:extLst>
      <p:ext uri="{BB962C8B-B14F-4D97-AF65-F5344CB8AC3E}">
        <p14:creationId xmlns:p14="http://schemas.microsoft.com/office/powerpoint/2010/main" val="1993384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53F2-6A51-063C-BB82-AC493553AD22}"/>
              </a:ext>
            </a:extLst>
          </p:cNvPr>
          <p:cNvSpPr>
            <a:spLocks noGrp="1"/>
          </p:cNvSpPr>
          <p:nvPr>
            <p:ph type="title"/>
          </p:nvPr>
        </p:nvSpPr>
        <p:spPr/>
        <p:txBody>
          <a:bodyPr/>
          <a:lstStyle/>
          <a:p>
            <a:r>
              <a:rPr lang="en-IE" dirty="0"/>
              <a:t>Code</a:t>
            </a:r>
          </a:p>
        </p:txBody>
      </p:sp>
      <p:pic>
        <p:nvPicPr>
          <p:cNvPr id="11" name="Picture 10">
            <a:extLst>
              <a:ext uri="{FF2B5EF4-FFF2-40B4-BE49-F238E27FC236}">
                <a16:creationId xmlns:a16="http://schemas.microsoft.com/office/drawing/2014/main" id="{262C218A-9D7B-7436-B6F9-4F1F1770A434}"/>
              </a:ext>
            </a:extLst>
          </p:cNvPr>
          <p:cNvPicPr>
            <a:picLocks noChangeAspect="1"/>
          </p:cNvPicPr>
          <p:nvPr/>
        </p:nvPicPr>
        <p:blipFill>
          <a:blip r:embed="rId2"/>
          <a:stretch>
            <a:fillRect/>
          </a:stretch>
        </p:blipFill>
        <p:spPr>
          <a:xfrm>
            <a:off x="1420766" y="1215614"/>
            <a:ext cx="6302468" cy="3509214"/>
          </a:xfrm>
          <a:prstGeom prst="rect">
            <a:avLst/>
          </a:prstGeom>
        </p:spPr>
      </p:pic>
    </p:spTree>
    <p:extLst>
      <p:ext uri="{BB962C8B-B14F-4D97-AF65-F5344CB8AC3E}">
        <p14:creationId xmlns:p14="http://schemas.microsoft.com/office/powerpoint/2010/main" val="2915266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1BBBB-7E78-9970-A748-D195EF15BF72}"/>
              </a:ext>
            </a:extLst>
          </p:cNvPr>
          <p:cNvSpPr>
            <a:spLocks noGrp="1"/>
          </p:cNvSpPr>
          <p:nvPr>
            <p:ph type="title"/>
          </p:nvPr>
        </p:nvSpPr>
        <p:spPr/>
        <p:txBody>
          <a:bodyPr>
            <a:normAutofit/>
          </a:bodyPr>
          <a:lstStyle/>
          <a:p>
            <a:pPr algn="l"/>
            <a:r>
              <a:rPr lang="en-GB" sz="3600" i="0" u="none" strike="noStrike" dirty="0">
                <a:effectLst/>
              </a:rPr>
              <a:t>Create the training loop method</a:t>
            </a:r>
          </a:p>
        </p:txBody>
      </p:sp>
      <p:sp>
        <p:nvSpPr>
          <p:cNvPr id="11" name="TextBox 10">
            <a:extLst>
              <a:ext uri="{FF2B5EF4-FFF2-40B4-BE49-F238E27FC236}">
                <a16:creationId xmlns:a16="http://schemas.microsoft.com/office/drawing/2014/main" id="{0DB3269B-6C60-0E80-61BF-2DE6FECA652B}"/>
              </a:ext>
            </a:extLst>
          </p:cNvPr>
          <p:cNvSpPr txBox="1"/>
          <p:nvPr/>
        </p:nvSpPr>
        <p:spPr>
          <a:xfrm>
            <a:off x="564777" y="1063229"/>
            <a:ext cx="4572000" cy="369332"/>
          </a:xfrm>
          <a:prstGeom prst="rect">
            <a:avLst/>
          </a:prstGeom>
          <a:noFill/>
        </p:spPr>
        <p:txBody>
          <a:bodyPr wrap="square">
            <a:spAutoFit/>
          </a:bodyPr>
          <a:lstStyle/>
          <a:p>
            <a:r>
              <a:rPr lang="en-GB" b="0" i="0" u="none" strike="noStrike" dirty="0">
                <a:solidFill>
                  <a:srgbClr val="4B5563"/>
                </a:solidFill>
                <a:effectLst/>
                <a:latin typeface="Source Sans Pro" panose="020B0503030403020204" pitchFamily="34" charset="0"/>
              </a:rPr>
              <a:t>The training loop goes like this:</a:t>
            </a:r>
            <a:endParaRPr lang="en-IE" dirty="0"/>
          </a:p>
        </p:txBody>
      </p:sp>
      <p:pic>
        <p:nvPicPr>
          <p:cNvPr id="12" name="Picture 11">
            <a:extLst>
              <a:ext uri="{FF2B5EF4-FFF2-40B4-BE49-F238E27FC236}">
                <a16:creationId xmlns:a16="http://schemas.microsoft.com/office/drawing/2014/main" id="{BE6DE175-1860-25DC-260A-E350037B4E99}"/>
              </a:ext>
            </a:extLst>
          </p:cNvPr>
          <p:cNvPicPr>
            <a:picLocks noChangeAspect="1"/>
          </p:cNvPicPr>
          <p:nvPr/>
        </p:nvPicPr>
        <p:blipFill>
          <a:blip r:embed="rId2"/>
          <a:stretch>
            <a:fillRect/>
          </a:stretch>
        </p:blipFill>
        <p:spPr>
          <a:xfrm>
            <a:off x="564777" y="1620784"/>
            <a:ext cx="7772400" cy="1901932"/>
          </a:xfrm>
          <a:prstGeom prst="rect">
            <a:avLst/>
          </a:prstGeom>
        </p:spPr>
      </p:pic>
    </p:spTree>
    <p:extLst>
      <p:ext uri="{BB962C8B-B14F-4D97-AF65-F5344CB8AC3E}">
        <p14:creationId xmlns:p14="http://schemas.microsoft.com/office/powerpoint/2010/main" val="1332097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8CD0-61E3-73F2-454F-E100B3C5D2DA}"/>
              </a:ext>
            </a:extLst>
          </p:cNvPr>
          <p:cNvSpPr>
            <a:spLocks noGrp="1"/>
          </p:cNvSpPr>
          <p:nvPr>
            <p:ph type="title"/>
          </p:nvPr>
        </p:nvSpPr>
        <p:spPr/>
        <p:txBody>
          <a:bodyPr>
            <a:normAutofit/>
          </a:bodyPr>
          <a:lstStyle/>
          <a:p>
            <a:r>
              <a:rPr lang="en-IE" dirty="0"/>
              <a:t>Task</a:t>
            </a:r>
          </a:p>
        </p:txBody>
      </p:sp>
      <p:pic>
        <p:nvPicPr>
          <p:cNvPr id="8" name="Picture 7">
            <a:extLst>
              <a:ext uri="{FF2B5EF4-FFF2-40B4-BE49-F238E27FC236}">
                <a16:creationId xmlns:a16="http://schemas.microsoft.com/office/drawing/2014/main" id="{0012D5A6-EABB-3925-8183-1F0C9BB9FC3E}"/>
              </a:ext>
            </a:extLst>
          </p:cNvPr>
          <p:cNvPicPr>
            <a:picLocks noChangeAspect="1"/>
          </p:cNvPicPr>
          <p:nvPr/>
        </p:nvPicPr>
        <p:blipFill>
          <a:blip r:embed="rId2"/>
          <a:stretch>
            <a:fillRect/>
          </a:stretch>
        </p:blipFill>
        <p:spPr>
          <a:xfrm>
            <a:off x="1763206" y="1127969"/>
            <a:ext cx="5617588" cy="3809552"/>
          </a:xfrm>
          <a:prstGeom prst="rect">
            <a:avLst/>
          </a:prstGeom>
        </p:spPr>
      </p:pic>
    </p:spTree>
    <p:extLst>
      <p:ext uri="{BB962C8B-B14F-4D97-AF65-F5344CB8AC3E}">
        <p14:creationId xmlns:p14="http://schemas.microsoft.com/office/powerpoint/2010/main" val="315777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4388B-1ABD-8B68-1966-CAA559D81794}"/>
              </a:ext>
            </a:extLst>
          </p:cNvPr>
          <p:cNvSpPr>
            <a:spLocks noGrp="1"/>
          </p:cNvSpPr>
          <p:nvPr>
            <p:ph type="title"/>
          </p:nvPr>
        </p:nvSpPr>
        <p:spPr/>
        <p:txBody>
          <a:bodyPr>
            <a:normAutofit/>
          </a:bodyPr>
          <a:lstStyle/>
          <a:p>
            <a:r>
              <a:rPr lang="en-IE" dirty="0"/>
              <a:t>Solution</a:t>
            </a:r>
          </a:p>
        </p:txBody>
      </p:sp>
      <p:pic>
        <p:nvPicPr>
          <p:cNvPr id="11" name="Picture 10">
            <a:extLst>
              <a:ext uri="{FF2B5EF4-FFF2-40B4-BE49-F238E27FC236}">
                <a16:creationId xmlns:a16="http://schemas.microsoft.com/office/drawing/2014/main" id="{16E1D7F6-AAD7-D3EE-8036-80A6E52EBB73}"/>
              </a:ext>
            </a:extLst>
          </p:cNvPr>
          <p:cNvPicPr>
            <a:picLocks noChangeAspect="1"/>
          </p:cNvPicPr>
          <p:nvPr/>
        </p:nvPicPr>
        <p:blipFill>
          <a:blip r:embed="rId2"/>
          <a:stretch>
            <a:fillRect/>
          </a:stretch>
        </p:blipFill>
        <p:spPr>
          <a:xfrm>
            <a:off x="1839040" y="988120"/>
            <a:ext cx="5465920" cy="3949401"/>
          </a:xfrm>
          <a:prstGeom prst="rect">
            <a:avLst/>
          </a:prstGeom>
        </p:spPr>
      </p:pic>
    </p:spTree>
    <p:extLst>
      <p:ext uri="{BB962C8B-B14F-4D97-AF65-F5344CB8AC3E}">
        <p14:creationId xmlns:p14="http://schemas.microsoft.com/office/powerpoint/2010/main" val="1878907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049140-69B1-6DE4-906A-29DE20A6B40B}"/>
              </a:ext>
            </a:extLst>
          </p:cNvPr>
          <p:cNvSpPr txBox="1"/>
          <p:nvPr/>
        </p:nvSpPr>
        <p:spPr>
          <a:xfrm>
            <a:off x="747656" y="686703"/>
            <a:ext cx="4572000" cy="369332"/>
          </a:xfrm>
          <a:prstGeom prst="rect">
            <a:avLst/>
          </a:prstGeom>
          <a:noFill/>
        </p:spPr>
        <p:txBody>
          <a:bodyPr wrap="square">
            <a:spAutoFit/>
          </a:bodyPr>
          <a:lstStyle/>
          <a:p>
            <a:pPr algn="l"/>
            <a:r>
              <a:rPr lang="en-GB" b="1" i="0" u="none" strike="noStrike" dirty="0">
                <a:effectLst/>
                <a:latin typeface="Source Sans Pro" panose="020B0503030403020204" pitchFamily="34" charset="0"/>
              </a:rPr>
              <a:t>Train the Q-Learning agent 🏃</a:t>
            </a:r>
          </a:p>
        </p:txBody>
      </p:sp>
      <p:pic>
        <p:nvPicPr>
          <p:cNvPr id="10" name="Picture 9">
            <a:extLst>
              <a:ext uri="{FF2B5EF4-FFF2-40B4-BE49-F238E27FC236}">
                <a16:creationId xmlns:a16="http://schemas.microsoft.com/office/drawing/2014/main" id="{F2DCA739-741B-8161-2B8B-E82C36AF938F}"/>
              </a:ext>
            </a:extLst>
          </p:cNvPr>
          <p:cNvPicPr>
            <a:picLocks noChangeAspect="1"/>
          </p:cNvPicPr>
          <p:nvPr/>
        </p:nvPicPr>
        <p:blipFill>
          <a:blip r:embed="rId2"/>
          <a:stretch>
            <a:fillRect/>
          </a:stretch>
        </p:blipFill>
        <p:spPr>
          <a:xfrm>
            <a:off x="747656" y="1256722"/>
            <a:ext cx="7772400" cy="284890"/>
          </a:xfrm>
          <a:prstGeom prst="rect">
            <a:avLst/>
          </a:prstGeom>
        </p:spPr>
      </p:pic>
      <p:sp>
        <p:nvSpPr>
          <p:cNvPr id="12" name="TextBox 11">
            <a:extLst>
              <a:ext uri="{FF2B5EF4-FFF2-40B4-BE49-F238E27FC236}">
                <a16:creationId xmlns:a16="http://schemas.microsoft.com/office/drawing/2014/main" id="{0250E7E8-66B6-AF4C-23B7-76480A78B356}"/>
              </a:ext>
            </a:extLst>
          </p:cNvPr>
          <p:cNvSpPr txBox="1"/>
          <p:nvPr/>
        </p:nvSpPr>
        <p:spPr>
          <a:xfrm>
            <a:off x="747656" y="1925419"/>
            <a:ext cx="4572000" cy="646331"/>
          </a:xfrm>
          <a:prstGeom prst="rect">
            <a:avLst/>
          </a:prstGeom>
          <a:noFill/>
        </p:spPr>
        <p:txBody>
          <a:bodyPr wrap="square">
            <a:spAutoFit/>
          </a:bodyPr>
          <a:lstStyle/>
          <a:p>
            <a:pPr algn="l"/>
            <a:r>
              <a:rPr lang="en-GB" b="1" i="0" u="none" strike="noStrike" dirty="0">
                <a:effectLst/>
                <a:latin typeface="Source Sans Pro" panose="020B0503030403020204" pitchFamily="34" charset="0"/>
              </a:rPr>
              <a:t>Let’s see what our Q-Learning table looks like now 👀</a:t>
            </a:r>
          </a:p>
        </p:txBody>
      </p:sp>
      <p:pic>
        <p:nvPicPr>
          <p:cNvPr id="13" name="Picture 12">
            <a:extLst>
              <a:ext uri="{FF2B5EF4-FFF2-40B4-BE49-F238E27FC236}">
                <a16:creationId xmlns:a16="http://schemas.microsoft.com/office/drawing/2014/main" id="{FBBDFD59-D4DA-93DC-3701-E04417888528}"/>
              </a:ext>
            </a:extLst>
          </p:cNvPr>
          <p:cNvPicPr>
            <a:picLocks noChangeAspect="1"/>
          </p:cNvPicPr>
          <p:nvPr/>
        </p:nvPicPr>
        <p:blipFill>
          <a:blip r:embed="rId3"/>
          <a:stretch>
            <a:fillRect/>
          </a:stretch>
        </p:blipFill>
        <p:spPr>
          <a:xfrm>
            <a:off x="2466191" y="2493251"/>
            <a:ext cx="3821654" cy="2441612"/>
          </a:xfrm>
          <a:prstGeom prst="rect">
            <a:avLst/>
          </a:prstGeom>
        </p:spPr>
      </p:pic>
    </p:spTree>
    <p:extLst>
      <p:ext uri="{BB962C8B-B14F-4D97-AF65-F5344CB8AC3E}">
        <p14:creationId xmlns:p14="http://schemas.microsoft.com/office/powerpoint/2010/main" val="377412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B7DD-9122-D458-3457-243EC363841A}"/>
              </a:ext>
            </a:extLst>
          </p:cNvPr>
          <p:cNvSpPr>
            <a:spLocks noGrp="1"/>
          </p:cNvSpPr>
          <p:nvPr>
            <p:ph type="title"/>
          </p:nvPr>
        </p:nvSpPr>
        <p:spPr/>
        <p:txBody>
          <a:bodyPr/>
          <a:lstStyle/>
          <a:p>
            <a:pPr algn="l"/>
            <a:r>
              <a:rPr lang="en-GB" i="0" u="none" strike="noStrike" dirty="0">
                <a:effectLst/>
              </a:rPr>
              <a:t>The evaluation method 📝</a:t>
            </a:r>
          </a:p>
        </p:txBody>
      </p:sp>
      <p:sp>
        <p:nvSpPr>
          <p:cNvPr id="9" name="TextBox 8">
            <a:extLst>
              <a:ext uri="{FF2B5EF4-FFF2-40B4-BE49-F238E27FC236}">
                <a16:creationId xmlns:a16="http://schemas.microsoft.com/office/drawing/2014/main" id="{373C1BA2-A66D-00DE-4167-C6D246CF8ACE}"/>
              </a:ext>
            </a:extLst>
          </p:cNvPr>
          <p:cNvSpPr txBox="1"/>
          <p:nvPr/>
        </p:nvSpPr>
        <p:spPr>
          <a:xfrm>
            <a:off x="543261" y="944692"/>
            <a:ext cx="8143539" cy="646331"/>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We defined the evaluation method that we’re going to use to test our Q-Learning agent.</a:t>
            </a:r>
          </a:p>
        </p:txBody>
      </p:sp>
      <p:pic>
        <p:nvPicPr>
          <p:cNvPr id="10" name="Picture 9">
            <a:extLst>
              <a:ext uri="{FF2B5EF4-FFF2-40B4-BE49-F238E27FC236}">
                <a16:creationId xmlns:a16="http://schemas.microsoft.com/office/drawing/2014/main" id="{34B8729C-76A0-E688-B4CE-11104CA8A7BD}"/>
              </a:ext>
            </a:extLst>
          </p:cNvPr>
          <p:cNvPicPr>
            <a:picLocks noChangeAspect="1"/>
          </p:cNvPicPr>
          <p:nvPr/>
        </p:nvPicPr>
        <p:blipFill>
          <a:blip r:embed="rId2"/>
          <a:stretch>
            <a:fillRect/>
          </a:stretch>
        </p:blipFill>
        <p:spPr>
          <a:xfrm>
            <a:off x="2269864" y="1472485"/>
            <a:ext cx="4897611" cy="3502927"/>
          </a:xfrm>
          <a:prstGeom prst="rect">
            <a:avLst/>
          </a:prstGeom>
        </p:spPr>
      </p:pic>
    </p:spTree>
    <p:extLst>
      <p:ext uri="{BB962C8B-B14F-4D97-AF65-F5344CB8AC3E}">
        <p14:creationId xmlns:p14="http://schemas.microsoft.com/office/powerpoint/2010/main" val="2745964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ECCC-AD82-F6DC-53B2-4DFFAB5DE85A}"/>
              </a:ext>
            </a:extLst>
          </p:cNvPr>
          <p:cNvSpPr>
            <a:spLocks noGrp="1"/>
          </p:cNvSpPr>
          <p:nvPr>
            <p:ph type="title"/>
          </p:nvPr>
        </p:nvSpPr>
        <p:spPr/>
        <p:txBody>
          <a:bodyPr>
            <a:normAutofit/>
          </a:bodyPr>
          <a:lstStyle/>
          <a:p>
            <a:pPr algn="l"/>
            <a:r>
              <a:rPr lang="en-GB" i="0" u="none" strike="noStrike" dirty="0">
                <a:effectLst/>
              </a:rPr>
              <a:t>Evaluate our Q-Learning agent 📈</a:t>
            </a:r>
          </a:p>
        </p:txBody>
      </p:sp>
      <p:sp>
        <p:nvSpPr>
          <p:cNvPr id="9" name="TextBox 8">
            <a:extLst>
              <a:ext uri="{FF2B5EF4-FFF2-40B4-BE49-F238E27FC236}">
                <a16:creationId xmlns:a16="http://schemas.microsoft.com/office/drawing/2014/main" id="{55EAE40A-F2CD-982F-066E-6606A9405E3F}"/>
              </a:ext>
            </a:extLst>
          </p:cNvPr>
          <p:cNvSpPr txBox="1"/>
          <p:nvPr/>
        </p:nvSpPr>
        <p:spPr>
          <a:xfrm>
            <a:off x="457200" y="1063229"/>
            <a:ext cx="8009068" cy="1200329"/>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Usually, you should have a mean reward of 1.0</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The </a:t>
            </a:r>
            <a:r>
              <a:rPr lang="en-GB" b="1" i="0" u="none" strike="noStrike" dirty="0">
                <a:solidFill>
                  <a:srgbClr val="4B5563"/>
                </a:solidFill>
                <a:effectLst/>
                <a:latin typeface="Source Sans Pro" panose="020B0503030403020204" pitchFamily="34" charset="0"/>
              </a:rPr>
              <a:t>environment is relatively easy</a:t>
            </a:r>
            <a:r>
              <a:rPr lang="en-GB" b="0" i="0" u="none" strike="noStrike" dirty="0">
                <a:solidFill>
                  <a:srgbClr val="4B5563"/>
                </a:solidFill>
                <a:effectLst/>
                <a:latin typeface="Source Sans Pro" panose="020B0503030403020204" pitchFamily="34" charset="0"/>
              </a:rPr>
              <a:t> since the state space is really small (16). What you can try to do is </a:t>
            </a:r>
            <a:r>
              <a:rPr lang="en-GB" b="0" i="0" u="sng" strike="noStrike" dirty="0">
                <a:solidFill>
                  <a:srgbClr val="4B5563"/>
                </a:solidFill>
                <a:effectLst/>
                <a:latin typeface="Source Sans Pro" panose="020B0503030403020204" pitchFamily="34" charset="0"/>
                <a:hlinkClick r:id="rId2"/>
              </a:rPr>
              <a:t>to replace it with the slippery version</a:t>
            </a:r>
            <a:r>
              <a:rPr lang="en-GB" b="0" i="0" u="none" strike="noStrike" dirty="0">
                <a:solidFill>
                  <a:srgbClr val="4B5563"/>
                </a:solidFill>
                <a:effectLst/>
                <a:latin typeface="Source Sans Pro" panose="020B0503030403020204" pitchFamily="34" charset="0"/>
              </a:rPr>
              <a:t>, which introduces stochasticity, making the environment more complex.</a:t>
            </a:r>
          </a:p>
        </p:txBody>
      </p:sp>
      <p:pic>
        <p:nvPicPr>
          <p:cNvPr id="10" name="Picture 9">
            <a:extLst>
              <a:ext uri="{FF2B5EF4-FFF2-40B4-BE49-F238E27FC236}">
                <a16:creationId xmlns:a16="http://schemas.microsoft.com/office/drawing/2014/main" id="{FC156117-D2E3-EEE6-D460-CB1D96A571C8}"/>
              </a:ext>
            </a:extLst>
          </p:cNvPr>
          <p:cNvPicPr>
            <a:picLocks noChangeAspect="1"/>
          </p:cNvPicPr>
          <p:nvPr/>
        </p:nvPicPr>
        <p:blipFill>
          <a:blip r:embed="rId3"/>
          <a:stretch>
            <a:fillRect/>
          </a:stretch>
        </p:blipFill>
        <p:spPr>
          <a:xfrm>
            <a:off x="685800" y="2694428"/>
            <a:ext cx="7772400" cy="1239200"/>
          </a:xfrm>
          <a:prstGeom prst="rect">
            <a:avLst/>
          </a:prstGeom>
        </p:spPr>
      </p:pic>
    </p:spTree>
    <p:extLst>
      <p:ext uri="{BB962C8B-B14F-4D97-AF65-F5344CB8AC3E}">
        <p14:creationId xmlns:p14="http://schemas.microsoft.com/office/powerpoint/2010/main" val="2462469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73BF3-D082-119D-D1A3-56B8F9016FC9}"/>
              </a:ext>
            </a:extLst>
          </p:cNvPr>
          <p:cNvSpPr>
            <a:spLocks noGrp="1"/>
          </p:cNvSpPr>
          <p:nvPr>
            <p:ph type="title"/>
          </p:nvPr>
        </p:nvSpPr>
        <p:spPr/>
        <p:txBody>
          <a:bodyPr/>
          <a:lstStyle/>
          <a:p>
            <a:r>
              <a:rPr lang="en-IE" dirty="0"/>
              <a:t>Publish your trained model</a:t>
            </a:r>
          </a:p>
        </p:txBody>
      </p:sp>
      <p:pic>
        <p:nvPicPr>
          <p:cNvPr id="7" name="Picture 6">
            <a:extLst>
              <a:ext uri="{FF2B5EF4-FFF2-40B4-BE49-F238E27FC236}">
                <a16:creationId xmlns:a16="http://schemas.microsoft.com/office/drawing/2014/main" id="{F3A95FA4-372C-2F1B-691F-2EE2117AD399}"/>
              </a:ext>
            </a:extLst>
          </p:cNvPr>
          <p:cNvPicPr>
            <a:picLocks noChangeAspect="1"/>
          </p:cNvPicPr>
          <p:nvPr/>
        </p:nvPicPr>
        <p:blipFill>
          <a:blip r:embed="rId2"/>
          <a:stretch>
            <a:fillRect/>
          </a:stretch>
        </p:blipFill>
        <p:spPr>
          <a:xfrm>
            <a:off x="599739" y="1245045"/>
            <a:ext cx="5940910" cy="1238780"/>
          </a:xfrm>
          <a:prstGeom prst="rect">
            <a:avLst/>
          </a:prstGeom>
        </p:spPr>
      </p:pic>
      <p:sp>
        <p:nvSpPr>
          <p:cNvPr id="9" name="TextBox 8">
            <a:extLst>
              <a:ext uri="{FF2B5EF4-FFF2-40B4-BE49-F238E27FC236}">
                <a16:creationId xmlns:a16="http://schemas.microsoft.com/office/drawing/2014/main" id="{4A401B5A-42A9-4836-C573-2771D7C19624}"/>
              </a:ext>
            </a:extLst>
          </p:cNvPr>
          <p:cNvSpPr txBox="1"/>
          <p:nvPr/>
        </p:nvSpPr>
        <p:spPr>
          <a:xfrm>
            <a:off x="457200" y="2975125"/>
            <a:ext cx="4572000" cy="1200329"/>
          </a:xfrm>
          <a:prstGeom prst="rect">
            <a:avLst/>
          </a:prstGeom>
          <a:noFill/>
        </p:spPr>
        <p:txBody>
          <a:bodyPr wrap="square">
            <a:spAutoFit/>
          </a:bodyPr>
          <a:lstStyle/>
          <a:p>
            <a:r>
              <a:rPr lang="en-GB" dirty="0">
                <a:solidFill>
                  <a:srgbClr val="4B5563"/>
                </a:solidFill>
                <a:latin typeface="Source Sans Pro" panose="020B0503030403020204" pitchFamily="34" charset="0"/>
              </a:rPr>
              <a:t>After loading the libraries (above) and defining the model (right), use the </a:t>
            </a:r>
            <a:r>
              <a:rPr lang="en-GB" i="1" dirty="0" err="1">
                <a:solidFill>
                  <a:srgbClr val="4B5563"/>
                </a:solidFill>
                <a:latin typeface="Source Sans Pro" panose="020B0503030403020204" pitchFamily="34" charset="0"/>
              </a:rPr>
              <a:t>record_video</a:t>
            </a:r>
            <a:r>
              <a:rPr lang="en-GB" i="1" dirty="0">
                <a:solidFill>
                  <a:srgbClr val="4B5563"/>
                </a:solidFill>
                <a:latin typeface="Source Sans Pro" panose="020B0503030403020204" pitchFamily="34" charset="0"/>
              </a:rPr>
              <a:t> </a:t>
            </a:r>
            <a:r>
              <a:rPr lang="en-GB" dirty="0">
                <a:solidFill>
                  <a:srgbClr val="4B5563"/>
                </a:solidFill>
                <a:latin typeface="Source Sans Pro" panose="020B0503030403020204" pitchFamily="34" charset="0"/>
              </a:rPr>
              <a:t>and </a:t>
            </a:r>
            <a:r>
              <a:rPr lang="en-GB" i="1" dirty="0" err="1">
                <a:solidFill>
                  <a:srgbClr val="4B5563"/>
                </a:solidFill>
                <a:latin typeface="Source Sans Pro" panose="020B0503030403020204" pitchFamily="34" charset="0"/>
              </a:rPr>
              <a:t>push_to_hub</a:t>
            </a:r>
            <a:r>
              <a:rPr lang="en-GB" i="1" dirty="0">
                <a:solidFill>
                  <a:srgbClr val="4B5563"/>
                </a:solidFill>
                <a:latin typeface="Source Sans Pro" panose="020B0503030403020204" pitchFamily="34" charset="0"/>
              </a:rPr>
              <a:t> </a:t>
            </a:r>
            <a:r>
              <a:rPr lang="en-GB" dirty="0">
                <a:solidFill>
                  <a:srgbClr val="4B5563"/>
                </a:solidFill>
                <a:latin typeface="Source Sans Pro" panose="020B0503030403020204" pitchFamily="34" charset="0"/>
              </a:rPr>
              <a:t>methods to publish your model.</a:t>
            </a:r>
            <a:endParaRPr lang="en-IE" dirty="0"/>
          </a:p>
        </p:txBody>
      </p:sp>
      <p:pic>
        <p:nvPicPr>
          <p:cNvPr id="10" name="Picture 9">
            <a:extLst>
              <a:ext uri="{FF2B5EF4-FFF2-40B4-BE49-F238E27FC236}">
                <a16:creationId xmlns:a16="http://schemas.microsoft.com/office/drawing/2014/main" id="{480F5E1E-CB23-1B39-E350-4A84B8281755}"/>
              </a:ext>
            </a:extLst>
          </p:cNvPr>
          <p:cNvPicPr>
            <a:picLocks noChangeAspect="1"/>
          </p:cNvPicPr>
          <p:nvPr/>
        </p:nvPicPr>
        <p:blipFill>
          <a:blip r:embed="rId3"/>
          <a:stretch>
            <a:fillRect/>
          </a:stretch>
        </p:blipFill>
        <p:spPr>
          <a:xfrm>
            <a:off x="4902494" y="2659676"/>
            <a:ext cx="3675981" cy="2119555"/>
          </a:xfrm>
          <a:prstGeom prst="rect">
            <a:avLst/>
          </a:prstGeom>
        </p:spPr>
      </p:pic>
    </p:spTree>
    <p:extLst>
      <p:ext uri="{BB962C8B-B14F-4D97-AF65-F5344CB8AC3E}">
        <p14:creationId xmlns:p14="http://schemas.microsoft.com/office/powerpoint/2010/main" val="2421396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16471-B7B9-4025-2F56-88C2B29BF3DC}"/>
              </a:ext>
            </a:extLst>
          </p:cNvPr>
          <p:cNvSpPr>
            <a:spLocks noGrp="1"/>
          </p:cNvSpPr>
          <p:nvPr>
            <p:ph type="title"/>
          </p:nvPr>
        </p:nvSpPr>
        <p:spPr/>
        <p:txBody>
          <a:bodyPr>
            <a:normAutofit/>
          </a:bodyPr>
          <a:lstStyle/>
          <a:p>
            <a:r>
              <a:rPr lang="en-GB" i="0" u="none" strike="noStrike" dirty="0">
                <a:effectLst/>
              </a:rPr>
              <a:t>Part 2: Taxi-v3 🚖</a:t>
            </a:r>
            <a:endParaRPr lang="en-IE" dirty="0"/>
          </a:p>
        </p:txBody>
      </p:sp>
      <p:sp>
        <p:nvSpPr>
          <p:cNvPr id="6" name="TextBox 5">
            <a:extLst>
              <a:ext uri="{FF2B5EF4-FFF2-40B4-BE49-F238E27FC236}">
                <a16:creationId xmlns:a16="http://schemas.microsoft.com/office/drawing/2014/main" id="{056E1E65-C20F-94ED-7B35-ECF750F09E4C}"/>
              </a:ext>
            </a:extLst>
          </p:cNvPr>
          <p:cNvSpPr txBox="1"/>
          <p:nvPr/>
        </p:nvSpPr>
        <p:spPr>
          <a:xfrm>
            <a:off x="457200" y="970493"/>
            <a:ext cx="8229600" cy="2031325"/>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In Taxi-v3 🚕, there are four designated locations in the grid world indicated by R(ed), G(</a:t>
            </a:r>
            <a:r>
              <a:rPr lang="en-GB" b="0" i="0" u="none" strike="noStrike" dirty="0" err="1">
                <a:solidFill>
                  <a:srgbClr val="4B5563"/>
                </a:solidFill>
                <a:effectLst/>
                <a:latin typeface="Source Sans Pro" panose="020B0503030403020204" pitchFamily="34" charset="0"/>
              </a:rPr>
              <a:t>reen</a:t>
            </a:r>
            <a:r>
              <a:rPr lang="en-GB" b="0" i="0" u="none" strike="noStrike" dirty="0">
                <a:solidFill>
                  <a:srgbClr val="4B5563"/>
                </a:solidFill>
                <a:effectLst/>
                <a:latin typeface="Source Sans Pro" panose="020B0503030403020204" pitchFamily="34" charset="0"/>
              </a:rPr>
              <a:t>), Y(</a:t>
            </a:r>
            <a:r>
              <a:rPr lang="en-GB" b="0" i="0" u="none" strike="noStrike" dirty="0" err="1">
                <a:solidFill>
                  <a:srgbClr val="4B5563"/>
                </a:solidFill>
                <a:effectLst/>
                <a:latin typeface="Source Sans Pro" panose="020B0503030403020204" pitchFamily="34" charset="0"/>
              </a:rPr>
              <a:t>ellow</a:t>
            </a:r>
            <a:r>
              <a:rPr lang="en-GB" b="0" i="0" u="none" strike="noStrike" dirty="0">
                <a:solidFill>
                  <a:srgbClr val="4B5563"/>
                </a:solidFill>
                <a:effectLst/>
                <a:latin typeface="Source Sans Pro" panose="020B0503030403020204" pitchFamily="34" charset="0"/>
              </a:rPr>
              <a:t>), and B(</a:t>
            </a:r>
            <a:r>
              <a:rPr lang="en-GB" b="0" i="0" u="none" strike="noStrike" dirty="0" err="1">
                <a:solidFill>
                  <a:srgbClr val="4B5563"/>
                </a:solidFill>
                <a:effectLst/>
                <a:latin typeface="Source Sans Pro" panose="020B0503030403020204" pitchFamily="34" charset="0"/>
              </a:rPr>
              <a:t>lue</a:t>
            </a:r>
            <a:r>
              <a:rPr lang="en-GB" b="0" i="0" u="none" strike="noStrike" dirty="0">
                <a:solidFill>
                  <a:srgbClr val="4B5563"/>
                </a:solidFill>
                <a:effectLst/>
                <a:latin typeface="Source Sans Pro" panose="020B0503030403020204" pitchFamily="34" charset="0"/>
              </a:rPr>
              <a:t>).</a:t>
            </a:r>
          </a:p>
          <a:p>
            <a:pPr algn="l"/>
            <a:r>
              <a:rPr lang="en-GB" b="0" i="0" u="none" strike="noStrike" dirty="0">
                <a:solidFill>
                  <a:srgbClr val="4B5563"/>
                </a:solidFill>
                <a:effectLst/>
                <a:latin typeface="Source Sans Pro" panose="020B0503030403020204" pitchFamily="34" charset="0"/>
              </a:rPr>
              <a:t>When the episode starts, </a:t>
            </a:r>
            <a:r>
              <a:rPr lang="en-GB" b="1" i="0" u="none" strike="noStrike" dirty="0">
                <a:solidFill>
                  <a:srgbClr val="4B5563"/>
                </a:solidFill>
                <a:effectLst/>
                <a:latin typeface="Source Sans Pro" panose="020B0503030403020204" pitchFamily="34" charset="0"/>
              </a:rPr>
              <a:t>the taxi starts off at a random square</a:t>
            </a:r>
            <a:r>
              <a:rPr lang="en-GB" b="0" i="0" u="none" strike="noStrike" dirty="0">
                <a:solidFill>
                  <a:srgbClr val="4B5563"/>
                </a:solidFill>
                <a:effectLst/>
                <a:latin typeface="Source Sans Pro" panose="020B0503030403020204" pitchFamily="34" charset="0"/>
              </a:rPr>
              <a:t> and the passenger is at a random location. The taxi drives to the passenger’s location, </a:t>
            </a:r>
            <a:r>
              <a:rPr lang="en-GB" b="1" i="0" u="none" strike="noStrike" dirty="0">
                <a:solidFill>
                  <a:srgbClr val="4B5563"/>
                </a:solidFill>
                <a:effectLst/>
                <a:latin typeface="Source Sans Pro" panose="020B0503030403020204" pitchFamily="34" charset="0"/>
              </a:rPr>
              <a:t>picks up the passenger</a:t>
            </a:r>
            <a:r>
              <a:rPr lang="en-GB" b="0" i="0" u="none" strike="noStrike" dirty="0">
                <a:solidFill>
                  <a:srgbClr val="4B5563"/>
                </a:solidFill>
                <a:effectLst/>
                <a:latin typeface="Source Sans Pro" panose="020B0503030403020204" pitchFamily="34" charset="0"/>
              </a:rPr>
              <a:t>, drives to the passenger’s destination (another one of the four specified locations), and then </a:t>
            </a:r>
            <a:r>
              <a:rPr lang="en-GB" b="1" i="0" u="none" strike="noStrike" dirty="0">
                <a:solidFill>
                  <a:srgbClr val="4B5563"/>
                </a:solidFill>
                <a:effectLst/>
                <a:latin typeface="Source Sans Pro" panose="020B0503030403020204" pitchFamily="34" charset="0"/>
              </a:rPr>
              <a:t>drops off the passenger</a:t>
            </a:r>
            <a:r>
              <a:rPr lang="en-GB" b="0" i="0" u="none" strike="noStrike" dirty="0">
                <a:solidFill>
                  <a:srgbClr val="4B5563"/>
                </a:solidFill>
                <a:effectLst/>
                <a:latin typeface="Source Sans Pro" panose="020B0503030403020204" pitchFamily="34" charset="0"/>
              </a:rPr>
              <a:t>. Once the passenger is dropped off, the episode ends.</a:t>
            </a:r>
          </a:p>
        </p:txBody>
      </p:sp>
      <p:pic>
        <p:nvPicPr>
          <p:cNvPr id="22530" name="Picture 2" descr="Taxi">
            <a:extLst>
              <a:ext uri="{FF2B5EF4-FFF2-40B4-BE49-F238E27FC236}">
                <a16:creationId xmlns:a16="http://schemas.microsoft.com/office/drawing/2014/main" id="{AB6B6ADE-02A2-60BC-4F2E-99E10BD34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7751" y="2871307"/>
            <a:ext cx="3344844" cy="2066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989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07FE-739E-3233-5C17-79BAE2DA2DF2}"/>
              </a:ext>
            </a:extLst>
          </p:cNvPr>
          <p:cNvSpPr>
            <a:spLocks noGrp="1"/>
          </p:cNvSpPr>
          <p:nvPr>
            <p:ph type="title"/>
          </p:nvPr>
        </p:nvSpPr>
        <p:spPr/>
        <p:txBody>
          <a:bodyPr/>
          <a:lstStyle/>
          <a:p>
            <a:r>
              <a:rPr lang="en-IE" dirty="0"/>
              <a:t>Taxi</a:t>
            </a:r>
          </a:p>
        </p:txBody>
      </p:sp>
      <p:pic>
        <p:nvPicPr>
          <p:cNvPr id="7" name="Picture 6">
            <a:extLst>
              <a:ext uri="{FF2B5EF4-FFF2-40B4-BE49-F238E27FC236}">
                <a16:creationId xmlns:a16="http://schemas.microsoft.com/office/drawing/2014/main" id="{E0067E31-9574-0BF6-EA2B-332A00BF2D0B}"/>
              </a:ext>
            </a:extLst>
          </p:cNvPr>
          <p:cNvPicPr>
            <a:picLocks noChangeAspect="1"/>
          </p:cNvPicPr>
          <p:nvPr/>
        </p:nvPicPr>
        <p:blipFill>
          <a:blip r:embed="rId2"/>
          <a:stretch>
            <a:fillRect/>
          </a:stretch>
        </p:blipFill>
        <p:spPr>
          <a:xfrm>
            <a:off x="1498600" y="1074659"/>
            <a:ext cx="6146800" cy="533400"/>
          </a:xfrm>
          <a:prstGeom prst="rect">
            <a:avLst/>
          </a:prstGeom>
        </p:spPr>
      </p:pic>
      <p:sp>
        <p:nvSpPr>
          <p:cNvPr id="9" name="TextBox 8">
            <a:extLst>
              <a:ext uri="{FF2B5EF4-FFF2-40B4-BE49-F238E27FC236}">
                <a16:creationId xmlns:a16="http://schemas.microsoft.com/office/drawing/2014/main" id="{C8F36C8A-175C-2DFE-141D-6C57FCE93315}"/>
              </a:ext>
            </a:extLst>
          </p:cNvPr>
          <p:cNvSpPr txBox="1"/>
          <p:nvPr/>
        </p:nvSpPr>
        <p:spPr>
          <a:xfrm>
            <a:off x="457200" y="1832413"/>
            <a:ext cx="8229600" cy="923330"/>
          </a:xfrm>
          <a:prstGeom prst="rect">
            <a:avLst/>
          </a:prstGeom>
          <a:noFill/>
        </p:spPr>
        <p:txBody>
          <a:bodyPr wrap="square">
            <a:spAutoFit/>
          </a:bodyPr>
          <a:lstStyle/>
          <a:p>
            <a:r>
              <a:rPr lang="en-GB" b="0" i="0" u="none" strike="noStrike" dirty="0">
                <a:solidFill>
                  <a:srgbClr val="4B5563"/>
                </a:solidFill>
                <a:effectLst/>
                <a:latin typeface="Source Sans Pro" panose="020B0503030403020204" pitchFamily="34" charset="0"/>
              </a:rPr>
              <a:t>There are </a:t>
            </a:r>
            <a:r>
              <a:rPr lang="en-GB" b="1" i="0" u="none" strike="noStrike" dirty="0">
                <a:effectLst/>
                <a:latin typeface="Source Sans Pro" panose="020B0503030403020204" pitchFamily="34" charset="0"/>
              </a:rPr>
              <a:t>500 discrete states since there are 25 taxi positions, 5 possible locations of the passenger</a:t>
            </a:r>
            <a:r>
              <a:rPr lang="en-GB" b="0" i="0" u="none" strike="noStrike" dirty="0">
                <a:solidFill>
                  <a:srgbClr val="4B5563"/>
                </a:solidFill>
                <a:effectLst/>
                <a:latin typeface="Source Sans Pro" panose="020B0503030403020204" pitchFamily="34" charset="0"/>
              </a:rPr>
              <a:t> (including the case when the passenger is in the taxi), and </a:t>
            </a:r>
            <a:r>
              <a:rPr lang="en-GB" b="1" i="0" u="none" strike="noStrike" dirty="0">
                <a:effectLst/>
                <a:latin typeface="Source Sans Pro" panose="020B0503030403020204" pitchFamily="34" charset="0"/>
              </a:rPr>
              <a:t>4 destination locations.</a:t>
            </a:r>
            <a:endParaRPr lang="en-IE" dirty="0"/>
          </a:p>
        </p:txBody>
      </p:sp>
      <p:pic>
        <p:nvPicPr>
          <p:cNvPr id="10" name="Picture 9">
            <a:extLst>
              <a:ext uri="{FF2B5EF4-FFF2-40B4-BE49-F238E27FC236}">
                <a16:creationId xmlns:a16="http://schemas.microsoft.com/office/drawing/2014/main" id="{AE2CB8E1-07D0-6F0A-82D8-281BD7A6F129}"/>
              </a:ext>
            </a:extLst>
          </p:cNvPr>
          <p:cNvPicPr>
            <a:picLocks noChangeAspect="1"/>
          </p:cNvPicPr>
          <p:nvPr/>
        </p:nvPicPr>
        <p:blipFill>
          <a:blip r:embed="rId3"/>
          <a:stretch>
            <a:fillRect/>
          </a:stretch>
        </p:blipFill>
        <p:spPr>
          <a:xfrm>
            <a:off x="2160644" y="3085950"/>
            <a:ext cx="4822712" cy="1849934"/>
          </a:xfrm>
          <a:prstGeom prst="rect">
            <a:avLst/>
          </a:prstGeom>
        </p:spPr>
      </p:pic>
    </p:spTree>
    <p:extLst>
      <p:ext uri="{BB962C8B-B14F-4D97-AF65-F5344CB8AC3E}">
        <p14:creationId xmlns:p14="http://schemas.microsoft.com/office/powerpoint/2010/main" val="4202899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FCADB-46A6-1255-75EE-4A69B6AA34AA}"/>
              </a:ext>
            </a:extLst>
          </p:cNvPr>
          <p:cNvSpPr>
            <a:spLocks noGrp="1"/>
          </p:cNvSpPr>
          <p:nvPr>
            <p:ph type="title"/>
          </p:nvPr>
        </p:nvSpPr>
        <p:spPr/>
        <p:txBody>
          <a:bodyPr/>
          <a:lstStyle/>
          <a:p>
            <a:r>
              <a:rPr lang="en-IE" dirty="0"/>
              <a:t>Action and Reward</a:t>
            </a:r>
          </a:p>
        </p:txBody>
      </p:sp>
      <p:sp>
        <p:nvSpPr>
          <p:cNvPr id="6" name="TextBox 5">
            <a:extLst>
              <a:ext uri="{FF2B5EF4-FFF2-40B4-BE49-F238E27FC236}">
                <a16:creationId xmlns:a16="http://schemas.microsoft.com/office/drawing/2014/main" id="{B9C0AD0D-246F-BDDF-6CE2-DFBEF3B193B2}"/>
              </a:ext>
            </a:extLst>
          </p:cNvPr>
          <p:cNvSpPr txBox="1"/>
          <p:nvPr/>
        </p:nvSpPr>
        <p:spPr>
          <a:xfrm>
            <a:off x="457200" y="1063229"/>
            <a:ext cx="4572000" cy="2585323"/>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The action space (the set of possible actions the agent can take) is discrete with </a:t>
            </a:r>
            <a:r>
              <a:rPr lang="en-GB" b="1" i="0" u="none" strike="noStrike" dirty="0">
                <a:solidFill>
                  <a:srgbClr val="4B5563"/>
                </a:solidFill>
                <a:effectLst/>
                <a:latin typeface="Source Sans Pro" panose="020B0503030403020204" pitchFamily="34" charset="0"/>
              </a:rPr>
              <a:t>6 actions available 🎮</a:t>
            </a:r>
            <a:r>
              <a:rPr lang="en-GB" b="0" i="0" u="none" strike="noStrike" dirty="0">
                <a:solidFill>
                  <a:srgbClr val="4B5563"/>
                </a:solidFill>
                <a:effectLst/>
                <a:latin typeface="Source Sans Pro" panose="020B0503030403020204" pitchFamily="34" charset="0"/>
              </a:rPr>
              <a:t>:</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0: move south</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1: move north</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2: move east</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3: move west</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4: pickup passenger</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5: drop off passenger</a:t>
            </a:r>
          </a:p>
        </p:txBody>
      </p:sp>
      <p:sp>
        <p:nvSpPr>
          <p:cNvPr id="8" name="TextBox 7">
            <a:extLst>
              <a:ext uri="{FF2B5EF4-FFF2-40B4-BE49-F238E27FC236}">
                <a16:creationId xmlns:a16="http://schemas.microsoft.com/office/drawing/2014/main" id="{D43FFBA7-68C8-1C98-449B-DD3D6A750C64}"/>
              </a:ext>
            </a:extLst>
          </p:cNvPr>
          <p:cNvSpPr txBox="1"/>
          <p:nvPr/>
        </p:nvSpPr>
        <p:spPr>
          <a:xfrm>
            <a:off x="3727525" y="1833086"/>
            <a:ext cx="4572000" cy="1754326"/>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Reward function 💰:</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-1 per step unless other reward is triggered.</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+20 delivering passenger.</a:t>
            </a:r>
          </a:p>
          <a:p>
            <a:pPr marL="285750" indent="-285750" algn="l">
              <a:buFont typeface="Arial" panose="020B0604020202020204" pitchFamily="34" charset="0"/>
              <a:buChar char="•"/>
            </a:pPr>
            <a:r>
              <a:rPr lang="en-GB" b="0" i="0" u="none" strike="noStrike" dirty="0">
                <a:solidFill>
                  <a:srgbClr val="4B5563"/>
                </a:solidFill>
                <a:effectLst/>
                <a:latin typeface="Source Sans Pro" panose="020B0503030403020204" pitchFamily="34" charset="0"/>
              </a:rPr>
              <a:t>-10 executing “pickup” and “drop-off” actions illegally.</a:t>
            </a:r>
          </a:p>
        </p:txBody>
      </p:sp>
    </p:spTree>
    <p:extLst>
      <p:ext uri="{BB962C8B-B14F-4D97-AF65-F5344CB8AC3E}">
        <p14:creationId xmlns:p14="http://schemas.microsoft.com/office/powerpoint/2010/main" val="1882230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ECBC-D116-C721-F040-FEC9203AE0C0}"/>
              </a:ext>
            </a:extLst>
          </p:cNvPr>
          <p:cNvSpPr>
            <a:spLocks noGrp="1"/>
          </p:cNvSpPr>
          <p:nvPr>
            <p:ph type="title"/>
          </p:nvPr>
        </p:nvSpPr>
        <p:spPr/>
        <p:txBody>
          <a:bodyPr/>
          <a:lstStyle/>
          <a:p>
            <a:r>
              <a:rPr lang="en-IE" dirty="0"/>
              <a:t>Code</a:t>
            </a:r>
          </a:p>
        </p:txBody>
      </p:sp>
      <p:pic>
        <p:nvPicPr>
          <p:cNvPr id="6" name="Picture 5">
            <a:extLst>
              <a:ext uri="{FF2B5EF4-FFF2-40B4-BE49-F238E27FC236}">
                <a16:creationId xmlns:a16="http://schemas.microsoft.com/office/drawing/2014/main" id="{C51DB971-B717-05A5-B0A2-78FBFF689FFF}"/>
              </a:ext>
            </a:extLst>
          </p:cNvPr>
          <p:cNvPicPr>
            <a:picLocks noChangeAspect="1"/>
          </p:cNvPicPr>
          <p:nvPr/>
        </p:nvPicPr>
        <p:blipFill>
          <a:blip r:embed="rId2"/>
          <a:stretch>
            <a:fillRect/>
          </a:stretch>
        </p:blipFill>
        <p:spPr>
          <a:xfrm>
            <a:off x="685800" y="1369216"/>
            <a:ext cx="7772400" cy="3179618"/>
          </a:xfrm>
          <a:prstGeom prst="rect">
            <a:avLst/>
          </a:prstGeom>
        </p:spPr>
      </p:pic>
    </p:spTree>
    <p:extLst>
      <p:ext uri="{BB962C8B-B14F-4D97-AF65-F5344CB8AC3E}">
        <p14:creationId xmlns:p14="http://schemas.microsoft.com/office/powerpoint/2010/main" val="1314078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59A6C-DE50-24D8-8CB4-083DDAE797D3}"/>
              </a:ext>
            </a:extLst>
          </p:cNvPr>
          <p:cNvSpPr>
            <a:spLocks noGrp="1"/>
          </p:cNvSpPr>
          <p:nvPr>
            <p:ph type="title"/>
          </p:nvPr>
        </p:nvSpPr>
        <p:spPr/>
        <p:txBody>
          <a:bodyPr>
            <a:normAutofit/>
          </a:bodyPr>
          <a:lstStyle/>
          <a:p>
            <a:r>
              <a:rPr lang="en-GB" i="0" u="none" strike="noStrike" dirty="0">
                <a:effectLst/>
              </a:rPr>
              <a:t>Define the hyperparameters ⚙️</a:t>
            </a:r>
            <a:endParaRPr lang="en-IE" dirty="0"/>
          </a:p>
        </p:txBody>
      </p:sp>
      <p:pic>
        <p:nvPicPr>
          <p:cNvPr id="4" name="Picture 3">
            <a:extLst>
              <a:ext uri="{FF2B5EF4-FFF2-40B4-BE49-F238E27FC236}">
                <a16:creationId xmlns:a16="http://schemas.microsoft.com/office/drawing/2014/main" id="{899E981C-F0C4-F581-DFF1-51A6711CDEB0}"/>
              </a:ext>
            </a:extLst>
          </p:cNvPr>
          <p:cNvPicPr>
            <a:picLocks noChangeAspect="1"/>
          </p:cNvPicPr>
          <p:nvPr/>
        </p:nvPicPr>
        <p:blipFill>
          <a:blip r:embed="rId2"/>
          <a:stretch>
            <a:fillRect/>
          </a:stretch>
        </p:blipFill>
        <p:spPr>
          <a:xfrm>
            <a:off x="1104697" y="1246109"/>
            <a:ext cx="6934605" cy="3431630"/>
          </a:xfrm>
          <a:prstGeom prst="rect">
            <a:avLst/>
          </a:prstGeom>
        </p:spPr>
      </p:pic>
    </p:spTree>
    <p:extLst>
      <p:ext uri="{BB962C8B-B14F-4D97-AF65-F5344CB8AC3E}">
        <p14:creationId xmlns:p14="http://schemas.microsoft.com/office/powerpoint/2010/main" val="2486047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59D9-8D82-70D4-8E46-F018B26C6414}"/>
              </a:ext>
            </a:extLst>
          </p:cNvPr>
          <p:cNvSpPr>
            <a:spLocks noGrp="1"/>
          </p:cNvSpPr>
          <p:nvPr>
            <p:ph type="title"/>
          </p:nvPr>
        </p:nvSpPr>
        <p:spPr/>
        <p:txBody>
          <a:bodyPr>
            <a:normAutofit/>
          </a:bodyPr>
          <a:lstStyle/>
          <a:p>
            <a:r>
              <a:rPr lang="en-GB" i="0" u="none" strike="noStrike" dirty="0">
                <a:effectLst/>
              </a:rPr>
              <a:t>Train our Q-Learning agent 🏃</a:t>
            </a:r>
            <a:endParaRPr lang="en-IE" dirty="0"/>
          </a:p>
        </p:txBody>
      </p:sp>
      <p:pic>
        <p:nvPicPr>
          <p:cNvPr id="4" name="Picture 3">
            <a:extLst>
              <a:ext uri="{FF2B5EF4-FFF2-40B4-BE49-F238E27FC236}">
                <a16:creationId xmlns:a16="http://schemas.microsoft.com/office/drawing/2014/main" id="{C3A1EAF3-9A2D-D986-603B-F2815BDBD6B8}"/>
              </a:ext>
            </a:extLst>
          </p:cNvPr>
          <p:cNvPicPr>
            <a:picLocks noChangeAspect="1"/>
          </p:cNvPicPr>
          <p:nvPr/>
        </p:nvPicPr>
        <p:blipFill>
          <a:blip r:embed="rId2"/>
          <a:stretch>
            <a:fillRect/>
          </a:stretch>
        </p:blipFill>
        <p:spPr>
          <a:xfrm>
            <a:off x="685800" y="1253200"/>
            <a:ext cx="7772400" cy="2830738"/>
          </a:xfrm>
          <a:prstGeom prst="rect">
            <a:avLst/>
          </a:prstGeom>
        </p:spPr>
      </p:pic>
    </p:spTree>
    <p:extLst>
      <p:ext uri="{BB962C8B-B14F-4D97-AF65-F5344CB8AC3E}">
        <p14:creationId xmlns:p14="http://schemas.microsoft.com/office/powerpoint/2010/main" val="2131393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B480F-5319-46A0-0DE8-958889FCCDC5}"/>
              </a:ext>
            </a:extLst>
          </p:cNvPr>
          <p:cNvSpPr>
            <a:spLocks noGrp="1"/>
          </p:cNvSpPr>
          <p:nvPr>
            <p:ph type="title"/>
          </p:nvPr>
        </p:nvSpPr>
        <p:spPr/>
        <p:txBody>
          <a:bodyPr>
            <a:normAutofit fontScale="90000"/>
          </a:bodyPr>
          <a:lstStyle/>
          <a:p>
            <a:r>
              <a:rPr lang="en-GB" i="0" u="none" strike="noStrike" dirty="0">
                <a:effectLst/>
              </a:rPr>
              <a:t>Create a model dictionary and publish</a:t>
            </a:r>
            <a:endParaRPr lang="en-IE" dirty="0"/>
          </a:p>
        </p:txBody>
      </p:sp>
      <p:sp>
        <p:nvSpPr>
          <p:cNvPr id="5" name="TextBox 4">
            <a:extLst>
              <a:ext uri="{FF2B5EF4-FFF2-40B4-BE49-F238E27FC236}">
                <a16:creationId xmlns:a16="http://schemas.microsoft.com/office/drawing/2014/main" id="{3FCE9057-E0F2-6ED3-69A4-79E66F78441C}"/>
              </a:ext>
            </a:extLst>
          </p:cNvPr>
          <p:cNvSpPr txBox="1"/>
          <p:nvPr/>
        </p:nvSpPr>
        <p:spPr>
          <a:xfrm>
            <a:off x="586291" y="1063229"/>
            <a:ext cx="7858462" cy="646331"/>
          </a:xfrm>
          <a:prstGeom prst="rect">
            <a:avLst/>
          </a:prstGeom>
          <a:noFill/>
        </p:spPr>
        <p:txBody>
          <a:bodyPr wrap="square">
            <a:spAutoFit/>
          </a:bodyPr>
          <a:lstStyle/>
          <a:p>
            <a:pPr algn="l"/>
            <a:r>
              <a:rPr lang="en-GB" b="0" i="0" u="none" strike="noStrike" dirty="0">
                <a:solidFill>
                  <a:srgbClr val="4B5563"/>
                </a:solidFill>
                <a:effectLst/>
                <a:latin typeface="Source Sans Pro" panose="020B0503030403020204" pitchFamily="34" charset="0"/>
              </a:rPr>
              <a:t>We create a model dictionary that will contain all the training hyperparameters for reproducibility and the Q-Table.</a:t>
            </a:r>
          </a:p>
        </p:txBody>
      </p:sp>
      <p:pic>
        <p:nvPicPr>
          <p:cNvPr id="6" name="Picture 5">
            <a:extLst>
              <a:ext uri="{FF2B5EF4-FFF2-40B4-BE49-F238E27FC236}">
                <a16:creationId xmlns:a16="http://schemas.microsoft.com/office/drawing/2014/main" id="{3D11A43B-0153-5B28-5761-D0AF5C2419A7}"/>
              </a:ext>
            </a:extLst>
          </p:cNvPr>
          <p:cNvPicPr>
            <a:picLocks noChangeAspect="1"/>
          </p:cNvPicPr>
          <p:nvPr/>
        </p:nvPicPr>
        <p:blipFill>
          <a:blip r:embed="rId2"/>
          <a:stretch>
            <a:fillRect/>
          </a:stretch>
        </p:blipFill>
        <p:spPr>
          <a:xfrm>
            <a:off x="2517887" y="2030530"/>
            <a:ext cx="4108226" cy="2408270"/>
          </a:xfrm>
          <a:prstGeom prst="rect">
            <a:avLst/>
          </a:prstGeom>
        </p:spPr>
      </p:pic>
    </p:spTree>
    <p:extLst>
      <p:ext uri="{BB962C8B-B14F-4D97-AF65-F5344CB8AC3E}">
        <p14:creationId xmlns:p14="http://schemas.microsoft.com/office/powerpoint/2010/main" val="618706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BFC011-FF62-DF50-5801-FF39300BC1DE}"/>
              </a:ext>
            </a:extLst>
          </p:cNvPr>
          <p:cNvSpPr txBox="1"/>
          <p:nvPr/>
        </p:nvSpPr>
        <p:spPr>
          <a:xfrm>
            <a:off x="3454400" y="2279362"/>
            <a:ext cx="2263761" cy="584775"/>
          </a:xfrm>
          <a:prstGeom prst="rect">
            <a:avLst/>
          </a:prstGeom>
          <a:noFill/>
        </p:spPr>
        <p:txBody>
          <a:bodyPr wrap="none" rtlCol="0">
            <a:spAutoFit/>
          </a:bodyPr>
          <a:lstStyle/>
          <a:p>
            <a:r>
              <a:rPr lang="en-US" sz="3200" dirty="0">
                <a:solidFill>
                  <a:schemeClr val="bg1"/>
                </a:solidFill>
              </a:rPr>
              <a:t>Questions?</a:t>
            </a:r>
          </a:p>
        </p:txBody>
      </p:sp>
    </p:spTree>
  </p:cSld>
  <p:clrMapOvr>
    <a:masterClrMapping/>
  </p:clrMapOvr>
</p:sld>
</file>

<file path=ppt/theme/theme1.xml><?xml version="1.0" encoding="utf-8"?>
<a:theme xmlns:a="http://schemas.openxmlformats.org/drawingml/2006/main" name="TU Dublin">
  <a:themeElements>
    <a:clrScheme name="TU Dublin Presentation0000oo">
      <a:dk1>
        <a:srgbClr val="004C6C"/>
      </a:dk1>
      <a:lt1>
        <a:srgbClr val="FFFFFF"/>
      </a:lt1>
      <a:dk2>
        <a:srgbClr val="452A64"/>
      </a:dk2>
      <a:lt2>
        <a:srgbClr val="EEECE1"/>
      </a:lt2>
      <a:accent1>
        <a:srgbClr val="004C6C"/>
      </a:accent1>
      <a:accent2>
        <a:srgbClr val="B60057"/>
      </a:accent2>
      <a:accent3>
        <a:srgbClr val="CFC600"/>
      </a:accent3>
      <a:accent4>
        <a:srgbClr val="837EBA"/>
      </a:accent4>
      <a:accent5>
        <a:srgbClr val="2856A3"/>
      </a:accent5>
      <a:accent6>
        <a:srgbClr val="F0823C"/>
      </a:accent6>
      <a:hlink>
        <a:srgbClr val="00A9B7"/>
      </a:hlink>
      <a:folHlink>
        <a:srgbClr val="CE122C"/>
      </a:folHlink>
    </a:clrScheme>
    <a:fontScheme name="TUDublin">
      <a:majorFont>
        <a:latin typeface="Prophet"/>
        <a:ea typeface=""/>
        <a:cs typeface=""/>
      </a:majorFont>
      <a:minorFont>
        <a:latin typeface="Visuel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U Dublin blue" id="{6D57FD24-6AFF-7F41-B61B-15129C67D53B}" vid="{5494679D-FC2E-284F-BAB5-6633A551CA7A}"/>
    </a:ext>
  </a:extLst>
</a:theme>
</file>

<file path=docProps/app.xml><?xml version="1.0" encoding="utf-8"?>
<Properties xmlns="http://schemas.openxmlformats.org/officeDocument/2006/extended-properties" xmlns:vt="http://schemas.openxmlformats.org/officeDocument/2006/docPropsVTypes">
  <Template>TU Dublin</Template>
  <TotalTime>19095</TotalTime>
  <Words>1386</Words>
  <Application>Microsoft Macintosh PowerPoint</Application>
  <PresentationFormat>On-screen Show (16:9)</PresentationFormat>
  <Paragraphs>117</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Google Sans</vt:lpstr>
      <vt:lpstr>Al Bayan</vt:lpstr>
      <vt:lpstr>Arial</vt:lpstr>
      <vt:lpstr>Helvetica</vt:lpstr>
      <vt:lpstr>Prophet</vt:lpstr>
      <vt:lpstr>Source Sans Pro</vt:lpstr>
      <vt:lpstr>Visuelt</vt:lpstr>
      <vt:lpstr>TU Dublin</vt:lpstr>
      <vt:lpstr>Reinforcement Learning</vt:lpstr>
      <vt:lpstr>Lab 2 - Goal</vt:lpstr>
      <vt:lpstr>Games</vt:lpstr>
      <vt:lpstr>Q-Learning</vt:lpstr>
      <vt:lpstr>Q-Learning</vt:lpstr>
      <vt:lpstr>Setup</vt:lpstr>
      <vt:lpstr>Import Packages</vt:lpstr>
      <vt:lpstr>Part 1: Frozen Lake ⛄ (non slippery version)</vt:lpstr>
      <vt:lpstr>Frozen Lake</vt:lpstr>
      <vt:lpstr>What does the environment look like?</vt:lpstr>
      <vt:lpstr>Environment</vt:lpstr>
      <vt:lpstr>Action Space</vt:lpstr>
      <vt:lpstr>Create and Initialize the Q-table 🗄️</vt:lpstr>
      <vt:lpstr>Solution</vt:lpstr>
      <vt:lpstr>Define the greedy policy 🤖</vt:lpstr>
      <vt:lpstr>Solution</vt:lpstr>
      <vt:lpstr>Define the epsilon-greedy policy 🤖</vt:lpstr>
      <vt:lpstr>Vectorized Environment</vt:lpstr>
      <vt:lpstr>Task</vt:lpstr>
      <vt:lpstr>Solution</vt:lpstr>
      <vt:lpstr>Define the hyperparameters ⚙️</vt:lpstr>
      <vt:lpstr>Code</vt:lpstr>
      <vt:lpstr>Create the training loop method</vt:lpstr>
      <vt:lpstr>Task</vt:lpstr>
      <vt:lpstr>Solution</vt:lpstr>
      <vt:lpstr>PowerPoint Presentation</vt:lpstr>
      <vt:lpstr>The evaluation method 📝</vt:lpstr>
      <vt:lpstr>Evaluate our Q-Learning agent 📈</vt:lpstr>
      <vt:lpstr>Publish your trained model</vt:lpstr>
      <vt:lpstr>Part 2: Taxi-v3 🚖</vt:lpstr>
      <vt:lpstr>Taxi</vt:lpstr>
      <vt:lpstr>Action and Reward</vt:lpstr>
      <vt:lpstr>Code</vt:lpstr>
      <vt:lpstr>Define the hyperparameters ⚙️</vt:lpstr>
      <vt:lpstr>Train our Q-Learning agent 🏃</vt:lpstr>
      <vt:lpstr>Create a model dictionary and publish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Bujar Raufi</dc:creator>
  <cp:lastModifiedBy>Bojan Bozic</cp:lastModifiedBy>
  <cp:revision>72</cp:revision>
  <dcterms:created xsi:type="dcterms:W3CDTF">2024-01-17T12:16:21Z</dcterms:created>
  <dcterms:modified xsi:type="dcterms:W3CDTF">2024-03-09T13:01:49Z</dcterms:modified>
</cp:coreProperties>
</file>